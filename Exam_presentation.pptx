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8" r:id="rId3"/>
    <p:sldId id="257" r:id="rId4"/>
    <p:sldId id="259" r:id="rId5"/>
    <p:sldId id="265" r:id="rId6"/>
    <p:sldId id="260" r:id="rId7"/>
    <p:sldId id="261" r:id="rId8"/>
    <p:sldId id="262" r:id="rId9"/>
    <p:sldId id="263" r:id="rId10"/>
    <p:sldId id="264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0"/>
    <p:restoredTop sz="94615"/>
  </p:normalViewPr>
  <p:slideViewPr>
    <p:cSldViewPr snapToGrid="0">
      <p:cViewPr varScale="1">
        <p:scale>
          <a:sx n="106" d="100"/>
          <a:sy n="106" d="100"/>
        </p:scale>
        <p:origin x="79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14B411-3A0C-9B48-A98A-2B446F0AABD3}" type="datetimeFigureOut">
              <a:rPr lang="it-IT" smtClean="0"/>
              <a:t>24/01/26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5899CA-CF3C-E64B-8EB9-117E32EBCA1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14577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5899CA-CF3C-E64B-8EB9-117E32EBCA1B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002019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9A4FDE-46F1-3450-7E47-B1626B9188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04670ECC-3A63-8010-8CC4-F1E909958D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2112553-978A-185F-8A9B-80A1D5A3F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0E02-674D-C74A-A347-1AB9372F0244}" type="datetimeFigureOut">
              <a:rPr lang="it-IT" smtClean="0"/>
              <a:t>24/01/26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5C696E5-C0D8-DA8A-186D-6BDB8CEB6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ECDA640-6DAA-23CD-5E80-A397620DB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6315F-7C99-D845-A091-DA6A7F16BD7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93757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6F4714B-4258-CA9A-3901-10915C3B9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89D578D-7F25-483F-A864-4F2B551F7F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F967978-C623-43C8-F89C-DB098F96E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0E02-674D-C74A-A347-1AB9372F0244}" type="datetimeFigureOut">
              <a:rPr lang="it-IT" smtClean="0"/>
              <a:t>24/01/26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C1D2CC5-25B7-1F57-56A9-3794F2351E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9183021-FD08-0BC7-1010-57AB4FDAC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6315F-7C99-D845-A091-DA6A7F16BD7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47209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B154129-E4B5-4B57-F1C5-B120EA192E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24E9202-B21D-371B-3758-6EB526F146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A61C499-71ED-906C-FF46-28C972E72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0E02-674D-C74A-A347-1AB9372F0244}" type="datetimeFigureOut">
              <a:rPr lang="it-IT" smtClean="0"/>
              <a:t>24/01/26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BED6DCB-FB3D-C569-04CA-79B9B6590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8EBA695-07F4-C2C0-22F5-1B061D352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6315F-7C99-D845-A091-DA6A7F16BD7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31665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97D9D5-888E-8CA8-23BE-B356D1619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CC4227E-48B7-0265-3406-62187C3C95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641F863A-D1E1-F6D7-94B8-EB850AD223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E637080-019A-1777-1E00-514F9225F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0E02-674D-C74A-A347-1AB9372F0244}" type="datetimeFigureOut">
              <a:rPr lang="it-IT" smtClean="0"/>
              <a:t>24/01/26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74D6820-5351-B3CA-9E6C-50F5D2B1F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43B5B1F-8E4D-A759-5892-2B1F701D7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6315F-7C99-D845-A091-DA6A7F16BD7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878221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2AB7B62-0793-15DB-F1C6-4AAC87ECA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C2FCB6F-936B-D2B1-04A8-AC659E7045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D936D69-6756-2EE0-778B-C959096530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72390C6F-2CC5-4318-6BB2-037C89684F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542D88E8-223D-3553-3485-DAD9B236A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CECDF892-C7A9-AFB5-159A-67F0BB5CE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0E02-674D-C74A-A347-1AB9372F0244}" type="datetimeFigureOut">
              <a:rPr lang="it-IT" smtClean="0"/>
              <a:t>24/01/26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0C6B057B-3247-98C4-03F7-B97D319A7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A28B1600-DF74-40B0-6C5E-CFE55F2A4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6315F-7C99-D845-A091-DA6A7F16BD7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427958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0DABC32-69DF-08FD-3622-0B4E1F587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10E59B45-53A2-811A-1D23-D49A702379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0E02-674D-C74A-A347-1AB9372F0244}" type="datetimeFigureOut">
              <a:rPr lang="it-IT" smtClean="0"/>
              <a:t>24/01/26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5BC9DF22-31A5-E90F-ED14-656235C0C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29082DC7-55DD-6F39-2B09-E617B0C9F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6315F-7C99-D845-A091-DA6A7F16BD7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53700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8CBAC528-A007-B46B-EE45-4FE3183F0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0E02-674D-C74A-A347-1AB9372F0244}" type="datetimeFigureOut">
              <a:rPr lang="it-IT" smtClean="0"/>
              <a:t>24/01/26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08128A55-B3C8-D04B-2BAE-55D1A9522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18551F0-F930-E542-9F94-82F9C5E97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6315F-7C99-D845-A091-DA6A7F16BD7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53194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79ED77-572A-D70E-9687-2BCECF0DF0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708C0F5-A9B3-0D77-73B2-1EDEA35704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F05B5EE3-11D3-EF31-04C7-3CD8748EAE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820C839-44B2-9CAB-B548-52B19B56F5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0E02-674D-C74A-A347-1AB9372F0244}" type="datetimeFigureOut">
              <a:rPr lang="it-IT" smtClean="0"/>
              <a:t>24/01/26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AEEF301-AC6D-FDAB-AA5E-4533EC71B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0317B4E-E9FA-F000-73B9-7023D7ED5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6315F-7C99-D845-A091-DA6A7F16BD7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15346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6781434-C659-A491-4AC9-DA23D1FF4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A50D7826-A60D-F9D5-DA8B-B3E2678928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E378E66F-2C01-EE95-61BF-3A99FDB67B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BC31C69-A66B-62FB-99C3-F1704490E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0E02-674D-C74A-A347-1AB9372F0244}" type="datetimeFigureOut">
              <a:rPr lang="it-IT" smtClean="0"/>
              <a:t>24/01/26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3E596283-2AFC-5C52-1DBE-2D5024AED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D888686-BBFD-535F-4077-EFAF6B588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6315F-7C99-D845-A091-DA6A7F16BD7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622129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6B98917-0E5F-0473-8A2F-E8847A839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E8D5CBF-C037-CAF2-21CD-B1471FB6EB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5191ECA-A2E4-571F-A0A5-59B1A47D0A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0E02-674D-C74A-A347-1AB9372F0244}" type="datetimeFigureOut">
              <a:rPr lang="it-IT" smtClean="0"/>
              <a:t>24/01/26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7C8F8AC-186E-97C5-EBE1-ED420BD34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B4D8CDA-891E-219F-04E9-3B0DF0802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6315F-7C99-D845-A091-DA6A7F16BD7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355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58D02F90-2B9F-A41E-10A6-B46D8393E7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168813C-D328-63F7-4D7F-E11DD9261A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B533C06-9FC9-4F1C-F3F2-15EA87929B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0E02-674D-C74A-A347-1AB9372F0244}" type="datetimeFigureOut">
              <a:rPr lang="it-IT" smtClean="0"/>
              <a:t>24/01/26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A96A9F-9526-096F-B46A-ACFADC18BB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796AAA3-021A-75DA-D101-9867F3E35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6315F-7C99-D845-A091-DA6A7F16BD7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561804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93B756C-93EC-4437-34E7-86DBB854A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12F4F24-2565-4A70-9BCD-D90D81567A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38C6753-91A7-B54E-C87D-F35807B2D5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9C0E02-674D-C74A-A347-1AB9372F0244}" type="datetimeFigureOut">
              <a:rPr lang="it-IT" smtClean="0"/>
              <a:t>24/01/26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F16C18F-100D-B1DA-18EE-B6C2DD1365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7A180DC-6748-6403-2AFC-99C1A9932C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76315F-7C99-D845-A091-DA6A7F16BD7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59004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3C85143-D87D-F3E5-03AE-0991B7A251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it-IT" b="1" dirty="0" err="1"/>
              <a:t>Multitemporal</a:t>
            </a:r>
            <a:r>
              <a:rPr lang="it-IT" b="1" dirty="0"/>
              <a:t> Analysis of </a:t>
            </a:r>
            <a:r>
              <a:rPr lang="it-IT" b="1" dirty="0" err="1"/>
              <a:t>Vegetation</a:t>
            </a:r>
            <a:r>
              <a:rPr lang="it-IT" b="1" dirty="0"/>
              <a:t> Health and </a:t>
            </a:r>
            <a:r>
              <a:rPr lang="it-IT" b="1" dirty="0" err="1"/>
              <a:t>Landscape</a:t>
            </a:r>
            <a:r>
              <a:rPr lang="it-IT" b="1" dirty="0"/>
              <a:t> </a:t>
            </a:r>
            <a:r>
              <a:rPr lang="it-IT" b="1" dirty="0" err="1"/>
              <a:t>Heterogeneity</a:t>
            </a:r>
            <a:endParaRPr lang="it-IT" b="1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ABFBDD8B-96B4-D97A-BE9B-3841375EC9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792538"/>
            <a:ext cx="9144000" cy="1655762"/>
          </a:xfrm>
        </p:spPr>
        <p:txBody>
          <a:bodyPr>
            <a:normAutofit/>
          </a:bodyPr>
          <a:lstStyle/>
          <a:p>
            <a:r>
              <a:rPr lang="it-IT" sz="3200" dirty="0"/>
              <a:t>The Impact of 2019-2020 </a:t>
            </a:r>
            <a:r>
              <a:rPr lang="it-IT" sz="3200" dirty="0" err="1"/>
              <a:t>Bushfires</a:t>
            </a:r>
            <a:r>
              <a:rPr lang="it-IT" sz="3200" dirty="0"/>
              <a:t> in the Blue Mountains National Park, Australia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EA76FA4-5E40-35CC-B082-241981A43A8D}"/>
              </a:ext>
            </a:extLst>
          </p:cNvPr>
          <p:cNvSpPr txBox="1"/>
          <p:nvPr/>
        </p:nvSpPr>
        <p:spPr>
          <a:xfrm>
            <a:off x="215900" y="5994400"/>
            <a:ext cx="58801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Student</a:t>
            </a:r>
            <a:r>
              <a:rPr lang="it-IT" dirty="0"/>
              <a:t>: Giovanni Premoli</a:t>
            </a:r>
          </a:p>
          <a:p>
            <a:r>
              <a:rPr lang="it-IT" dirty="0" err="1"/>
              <a:t>Student</a:t>
            </a:r>
            <a:r>
              <a:rPr lang="it-IT" dirty="0"/>
              <a:t> ID </a:t>
            </a:r>
            <a:r>
              <a:rPr lang="it-IT" dirty="0" err="1"/>
              <a:t>Number</a:t>
            </a:r>
            <a:r>
              <a:rPr lang="it-IT" dirty="0"/>
              <a:t>: 0001188103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514370F-CA76-1DFC-53DF-D495B6165001}"/>
              </a:ext>
            </a:extLst>
          </p:cNvPr>
          <p:cNvSpPr txBox="1"/>
          <p:nvPr/>
        </p:nvSpPr>
        <p:spPr>
          <a:xfrm>
            <a:off x="8839200" y="5994400"/>
            <a:ext cx="4597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Course: </a:t>
            </a:r>
            <a:r>
              <a:rPr lang="it-IT" dirty="0" err="1"/>
              <a:t>Spatial</a:t>
            </a:r>
            <a:r>
              <a:rPr lang="it-IT" dirty="0"/>
              <a:t> </a:t>
            </a:r>
            <a:r>
              <a:rPr lang="it-IT" dirty="0" err="1"/>
              <a:t>Ecology</a:t>
            </a:r>
            <a:r>
              <a:rPr lang="it-IT" dirty="0"/>
              <a:t> in </a:t>
            </a:r>
            <a:r>
              <a:rPr lang="it-IT" dirty="0" err="1"/>
              <a:t>R</a:t>
            </a:r>
            <a:endParaRPr lang="it-IT" dirty="0"/>
          </a:p>
          <a:p>
            <a:r>
              <a:rPr lang="it-IT" dirty="0" err="1"/>
              <a:t>Academic</a:t>
            </a:r>
            <a:r>
              <a:rPr lang="it-IT" dirty="0"/>
              <a:t> </a:t>
            </a:r>
            <a:r>
              <a:rPr lang="it-IT" dirty="0" err="1"/>
              <a:t>Year</a:t>
            </a:r>
            <a:r>
              <a:rPr lang="it-IT" dirty="0"/>
              <a:t>: 2025/2026</a:t>
            </a:r>
          </a:p>
        </p:txBody>
      </p:sp>
    </p:spTree>
    <p:extLst>
      <p:ext uri="{BB962C8B-B14F-4D97-AF65-F5344CB8AC3E}">
        <p14:creationId xmlns:p14="http://schemas.microsoft.com/office/powerpoint/2010/main" val="2571809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F70EC0E-1B10-34AE-AA0A-C01C7B6CD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 err="1"/>
              <a:t>Table</a:t>
            </a:r>
            <a:r>
              <a:rPr lang="it-IT" b="1" dirty="0"/>
              <a:t> of </a:t>
            </a:r>
            <a:r>
              <a:rPr lang="it-IT" b="1" dirty="0" err="1"/>
              <a:t>contents</a:t>
            </a:r>
            <a:endParaRPr lang="it-IT" b="1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89A6B76-EEF1-7EAF-5874-4CA674FCAC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it-IT" sz="2000" b="1" dirty="0" err="1"/>
              <a:t>Introduction</a:t>
            </a:r>
            <a:endParaRPr lang="it-IT" sz="2000" b="1" dirty="0"/>
          </a:p>
          <a:p>
            <a:pPr marL="0" indent="0">
              <a:buNone/>
            </a:pPr>
            <a:r>
              <a:rPr lang="it-IT" sz="2000" b="1" dirty="0" err="1"/>
              <a:t>Spectral</a:t>
            </a:r>
            <a:r>
              <a:rPr lang="it-IT" sz="2000" b="1" dirty="0"/>
              <a:t> </a:t>
            </a:r>
            <a:r>
              <a:rPr lang="it-IT" sz="2000" b="1" dirty="0" err="1"/>
              <a:t>Structure</a:t>
            </a:r>
            <a:endParaRPr lang="it-IT" sz="2000" b="1" dirty="0"/>
          </a:p>
          <a:p>
            <a:pPr marL="0" indent="0">
              <a:buNone/>
            </a:pPr>
            <a:r>
              <a:rPr lang="it-IT" sz="1800" dirty="0"/>
              <a:t>	Visual </a:t>
            </a:r>
            <a:r>
              <a:rPr lang="it-IT" sz="1800" dirty="0" err="1"/>
              <a:t>Interpretation</a:t>
            </a:r>
            <a:r>
              <a:rPr lang="it-IT" sz="1800" dirty="0"/>
              <a:t> (RGB plots)</a:t>
            </a:r>
          </a:p>
          <a:p>
            <a:pPr marL="0" indent="0">
              <a:buNone/>
            </a:pPr>
            <a:r>
              <a:rPr lang="it-IT" sz="1800" dirty="0"/>
              <a:t>	</a:t>
            </a:r>
            <a:r>
              <a:rPr lang="it-IT" sz="1800" dirty="0" err="1"/>
              <a:t>Vegetation</a:t>
            </a:r>
            <a:r>
              <a:rPr lang="it-IT" sz="1800" dirty="0"/>
              <a:t> Health Index (DVI and NDVI)</a:t>
            </a:r>
          </a:p>
          <a:p>
            <a:pPr marL="0" indent="0">
              <a:buNone/>
            </a:pPr>
            <a:r>
              <a:rPr lang="it-IT" sz="2000" b="1" dirty="0" err="1"/>
              <a:t>Landscape</a:t>
            </a:r>
            <a:r>
              <a:rPr lang="it-IT" sz="2000" b="1" dirty="0"/>
              <a:t> </a:t>
            </a:r>
            <a:r>
              <a:rPr lang="it-IT" sz="2000" b="1" dirty="0" err="1"/>
              <a:t>Structure</a:t>
            </a:r>
            <a:endParaRPr lang="it-IT" sz="2000" b="1" dirty="0"/>
          </a:p>
          <a:p>
            <a:pPr marL="457200" lvl="1" indent="0">
              <a:buNone/>
            </a:pPr>
            <a:r>
              <a:rPr lang="it-IT" sz="1800" dirty="0"/>
              <a:t>	Data </a:t>
            </a:r>
            <a:r>
              <a:rPr lang="it-IT" sz="1800" dirty="0" err="1"/>
              <a:t>Compression</a:t>
            </a:r>
            <a:r>
              <a:rPr lang="it-IT" sz="1800" dirty="0"/>
              <a:t> (PCA)</a:t>
            </a:r>
          </a:p>
          <a:p>
            <a:pPr marL="457200" lvl="1" indent="0">
              <a:buNone/>
            </a:pPr>
            <a:r>
              <a:rPr lang="it-IT" sz="1800" dirty="0"/>
              <a:t>	</a:t>
            </a:r>
            <a:r>
              <a:rPr lang="it-IT" sz="1800" dirty="0" err="1"/>
              <a:t>Landscape</a:t>
            </a:r>
            <a:r>
              <a:rPr lang="it-IT" sz="1800" dirty="0"/>
              <a:t> </a:t>
            </a:r>
            <a:r>
              <a:rPr lang="it-IT" sz="1800" dirty="0" err="1"/>
              <a:t>Heterogeneity</a:t>
            </a:r>
            <a:r>
              <a:rPr lang="it-IT" sz="1800" dirty="0"/>
              <a:t> (SD)</a:t>
            </a:r>
          </a:p>
          <a:p>
            <a:pPr marL="0" indent="0">
              <a:buNone/>
            </a:pPr>
            <a:r>
              <a:rPr lang="it-IT" sz="2000" b="1" dirty="0" err="1"/>
              <a:t>Quantifying</a:t>
            </a:r>
            <a:r>
              <a:rPr lang="it-IT" sz="2000" b="1" dirty="0"/>
              <a:t> </a:t>
            </a:r>
            <a:r>
              <a:rPr lang="it-IT" sz="2000" b="1" dirty="0" err="1"/>
              <a:t>Change</a:t>
            </a:r>
            <a:endParaRPr lang="it-IT" sz="2000" b="1" dirty="0"/>
          </a:p>
          <a:p>
            <a:pPr marL="0" indent="0">
              <a:buNone/>
            </a:pPr>
            <a:r>
              <a:rPr lang="it-IT" sz="1800" dirty="0"/>
              <a:t>	Land Cover </a:t>
            </a:r>
            <a:r>
              <a:rPr lang="it-IT" sz="1800" dirty="0" err="1"/>
              <a:t>Classification</a:t>
            </a:r>
            <a:endParaRPr lang="it-IT" sz="1800" dirty="0"/>
          </a:p>
          <a:p>
            <a:pPr marL="0" indent="0">
              <a:buNone/>
            </a:pPr>
            <a:r>
              <a:rPr lang="it-IT" sz="1800" dirty="0"/>
              <a:t>	Statistical </a:t>
            </a:r>
            <a:r>
              <a:rPr lang="it-IT" sz="1800" dirty="0" err="1"/>
              <a:t>Synthesis</a:t>
            </a:r>
            <a:r>
              <a:rPr lang="it-IT" sz="1800" dirty="0"/>
              <a:t> (ggplot2)</a:t>
            </a:r>
          </a:p>
          <a:p>
            <a:pPr marL="0" indent="0">
              <a:buNone/>
            </a:pPr>
            <a:r>
              <a:rPr lang="it-IT" sz="2000" b="1" dirty="0" err="1"/>
              <a:t>Conclusions</a:t>
            </a:r>
            <a:endParaRPr lang="it-IT" sz="2000" b="1" dirty="0"/>
          </a:p>
        </p:txBody>
      </p:sp>
    </p:spTree>
    <p:extLst>
      <p:ext uri="{BB962C8B-B14F-4D97-AF65-F5344CB8AC3E}">
        <p14:creationId xmlns:p14="http://schemas.microsoft.com/office/powerpoint/2010/main" val="1440945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80569DA-D851-F062-4D5E-D4F448B49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 err="1"/>
              <a:t>Introduction</a:t>
            </a:r>
            <a:r>
              <a:rPr lang="it-IT" dirty="0"/>
              <a:t> 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D1DEA7F-72EB-C864-7C52-A4AC797B3A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sz="2000" b="1" dirty="0" err="1"/>
              <a:t>Objective</a:t>
            </a:r>
            <a:r>
              <a:rPr lang="it-IT" sz="2000" b="1" dirty="0"/>
              <a:t>:</a:t>
            </a:r>
            <a:r>
              <a:rPr lang="it-IT" dirty="0"/>
              <a:t> </a:t>
            </a:r>
            <a:r>
              <a:rPr lang="it-IT" sz="2000" dirty="0" err="1"/>
              <a:t>assess</a:t>
            </a:r>
            <a:r>
              <a:rPr lang="it-IT" sz="2000" dirty="0"/>
              <a:t> the </a:t>
            </a:r>
            <a:r>
              <a:rPr lang="it-IT" sz="2000" dirty="0" err="1"/>
              <a:t>ecological</a:t>
            </a:r>
            <a:r>
              <a:rPr lang="it-IT" sz="2000" dirty="0"/>
              <a:t> impact of late 2019 – </a:t>
            </a:r>
            <a:r>
              <a:rPr lang="it-IT" sz="2000" dirty="0" err="1"/>
              <a:t>early</a:t>
            </a:r>
            <a:r>
              <a:rPr lang="it-IT" sz="2000" dirty="0"/>
              <a:t> 2020 </a:t>
            </a:r>
            <a:r>
              <a:rPr lang="it-IT" sz="2000" dirty="0" err="1"/>
              <a:t>bushfires</a:t>
            </a:r>
            <a:r>
              <a:rPr lang="it-IT" sz="2000" dirty="0"/>
              <a:t> in Australia </a:t>
            </a:r>
            <a:r>
              <a:rPr lang="it-IT" sz="2000" dirty="0" err="1"/>
              <a:t>through</a:t>
            </a:r>
            <a:r>
              <a:rPr lang="it-IT" sz="2000" dirty="0"/>
              <a:t> the </a:t>
            </a:r>
            <a:r>
              <a:rPr lang="it-IT" sz="2000" dirty="0" err="1"/>
              <a:t>application</a:t>
            </a:r>
            <a:r>
              <a:rPr lang="it-IT" sz="2000" dirty="0"/>
              <a:t> of </a:t>
            </a:r>
            <a:r>
              <a:rPr lang="it-IT" sz="2000" dirty="0" err="1"/>
              <a:t>several</a:t>
            </a:r>
            <a:r>
              <a:rPr lang="it-IT" sz="2000" dirty="0"/>
              <a:t> remote sensing and </a:t>
            </a:r>
            <a:r>
              <a:rPr lang="it-IT" sz="2000" dirty="0" err="1"/>
              <a:t>statistical</a:t>
            </a:r>
            <a:r>
              <a:rPr lang="it-IT" sz="2000" dirty="0"/>
              <a:t> </a:t>
            </a:r>
            <a:r>
              <a:rPr lang="it-IT" sz="2000" dirty="0" err="1"/>
              <a:t>analysis</a:t>
            </a:r>
            <a:endParaRPr lang="it-IT" sz="2000" dirty="0"/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r>
              <a:rPr lang="it-IT" sz="2000" b="1" dirty="0"/>
              <a:t>Study Area: </a:t>
            </a:r>
            <a:r>
              <a:rPr lang="it-IT" sz="2000" dirty="0"/>
              <a:t>Blue Mountains National Park (Australia)</a:t>
            </a:r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r>
              <a:rPr lang="it-IT" sz="2000" b="1" dirty="0"/>
              <a:t>Data Source: </a:t>
            </a:r>
            <a:r>
              <a:rPr lang="it-IT" sz="2000" dirty="0"/>
              <a:t>Sentinel-2 TC and FC images (</a:t>
            </a:r>
            <a:r>
              <a:rPr lang="it-IT" sz="2000" dirty="0" err="1"/>
              <a:t>Copernicus</a:t>
            </a:r>
            <a:r>
              <a:rPr lang="it-IT" sz="2000" dirty="0"/>
              <a:t> Browser)</a:t>
            </a:r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r>
              <a:rPr lang="it-IT" sz="2000" b="1" dirty="0" err="1"/>
              <a:t>Comparison</a:t>
            </a:r>
            <a:r>
              <a:rPr lang="it-IT" sz="2000" b="1" dirty="0"/>
              <a:t> </a:t>
            </a:r>
            <a:r>
              <a:rPr lang="it-IT" sz="2000" b="1" dirty="0" err="1"/>
              <a:t>Period</a:t>
            </a:r>
            <a:r>
              <a:rPr lang="it-IT" sz="2000" b="1" dirty="0"/>
              <a:t>: </a:t>
            </a:r>
            <a:r>
              <a:rPr lang="it-IT" sz="2000" dirty="0"/>
              <a:t>2019 (</a:t>
            </a:r>
            <a:r>
              <a:rPr lang="it-IT" sz="2000" dirty="0" err="1"/>
              <a:t>pre-fire</a:t>
            </a:r>
            <a:r>
              <a:rPr lang="it-IT" sz="2000" dirty="0"/>
              <a:t>) – 2020 (post-</a:t>
            </a:r>
            <a:r>
              <a:rPr lang="it-IT" sz="2000" dirty="0" err="1"/>
              <a:t>fire</a:t>
            </a:r>
            <a:r>
              <a:rPr lang="it-IT" sz="2000" dirty="0"/>
              <a:t>)</a:t>
            </a:r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r>
              <a:rPr lang="it-IT" sz="2000" b="1" dirty="0"/>
              <a:t>Tools:</a:t>
            </a:r>
            <a:r>
              <a:rPr lang="it-IT" sz="2000" dirty="0"/>
              <a:t> </a:t>
            </a:r>
            <a:r>
              <a:rPr lang="it-IT" sz="2000" dirty="0" err="1"/>
              <a:t>R</a:t>
            </a:r>
            <a:r>
              <a:rPr lang="it-IT" sz="2000" dirty="0"/>
              <a:t> studio</a:t>
            </a:r>
          </a:p>
        </p:txBody>
      </p:sp>
    </p:spTree>
    <p:extLst>
      <p:ext uri="{BB962C8B-B14F-4D97-AF65-F5344CB8AC3E}">
        <p14:creationId xmlns:p14="http://schemas.microsoft.com/office/powerpoint/2010/main" val="33008348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29A1A7C-645E-6AE2-64F5-8BEDA3766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Study Area</a:t>
            </a:r>
          </a:p>
        </p:txBody>
      </p:sp>
      <p:pic>
        <p:nvPicPr>
          <p:cNvPr id="5" name="Segnaposto contenuto 4" descr="Immagine che contiene testo, mappa, diagramma, Carattere&#10;&#10;Descrizione generata automaticamente">
            <a:extLst>
              <a:ext uri="{FF2B5EF4-FFF2-40B4-BE49-F238E27FC236}">
                <a16:creationId xmlns:a16="http://schemas.microsoft.com/office/drawing/2014/main" id="{E9903F9B-E2E4-386A-43DB-8A524FC9A0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077244"/>
            <a:ext cx="6502400" cy="3632200"/>
          </a:xfrm>
        </p:spPr>
      </p:pic>
      <p:pic>
        <p:nvPicPr>
          <p:cNvPr id="7" name="Immagine 6" descr="Immagine che contiene mappa, testo, atlante, schermata&#10;&#10;Descrizione generata automaticamente">
            <a:extLst>
              <a:ext uri="{FF2B5EF4-FFF2-40B4-BE49-F238E27FC236}">
                <a16:creationId xmlns:a16="http://schemas.microsoft.com/office/drawing/2014/main" id="{1E98CD1E-8FBF-D8EB-1AED-A7FE320C3D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678781"/>
            <a:ext cx="5406701" cy="4429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2743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FB96CD6-C85D-FE3D-CB52-BBDF7C560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it-IT" b="1" dirty="0" err="1"/>
              <a:t>Spectral</a:t>
            </a:r>
            <a:r>
              <a:rPr lang="it-IT" b="1" dirty="0"/>
              <a:t> </a:t>
            </a:r>
            <a:r>
              <a:rPr lang="it-IT" b="1" dirty="0" err="1"/>
              <a:t>Structure</a:t>
            </a:r>
            <a:endParaRPr lang="it-IT" b="1" dirty="0"/>
          </a:p>
        </p:txBody>
      </p:sp>
    </p:spTree>
    <p:extLst>
      <p:ext uri="{BB962C8B-B14F-4D97-AF65-F5344CB8AC3E}">
        <p14:creationId xmlns:p14="http://schemas.microsoft.com/office/powerpoint/2010/main" val="35113605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FC0B160-D284-B28A-B523-7802683C0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75" y="758825"/>
            <a:ext cx="3190875" cy="1325563"/>
          </a:xfrm>
        </p:spPr>
        <p:txBody>
          <a:bodyPr>
            <a:normAutofit fontScale="90000"/>
          </a:bodyPr>
          <a:lstStyle/>
          <a:p>
            <a:r>
              <a:rPr lang="it-IT" b="1" dirty="0"/>
              <a:t>True Color and False Color </a:t>
            </a:r>
          </a:p>
        </p:txBody>
      </p:sp>
      <p:pic>
        <p:nvPicPr>
          <p:cNvPr id="8" name="Segnaposto contenuto 7" descr="Immagine che contiene mappa, schermata&#10;&#10;Descrizione generata automaticamente">
            <a:extLst>
              <a:ext uri="{FF2B5EF4-FFF2-40B4-BE49-F238E27FC236}">
                <a16:creationId xmlns:a16="http://schemas.microsoft.com/office/drawing/2014/main" id="{86A45D80-DE3C-2AA5-6AA5-A6968F9B5B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72039" y="0"/>
            <a:ext cx="6143626" cy="7028581"/>
          </a:xfr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B064DCCA-BAB2-B99F-2621-1F335983D11C}"/>
              </a:ext>
            </a:extLst>
          </p:cNvPr>
          <p:cNvSpPr txBox="1"/>
          <p:nvPr/>
        </p:nvSpPr>
        <p:spPr>
          <a:xfrm>
            <a:off x="356395" y="4344849"/>
            <a:ext cx="39370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The </a:t>
            </a:r>
            <a:r>
              <a:rPr lang="it-IT" dirty="0" err="1"/>
              <a:t>differences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2019 and 2020 can </a:t>
            </a:r>
            <a:r>
              <a:rPr lang="it-IT" dirty="0" err="1"/>
              <a:t>also</a:t>
            </a:r>
            <a:r>
              <a:rPr lang="it-IT" dirty="0"/>
              <a:t> be </a:t>
            </a:r>
            <a:r>
              <a:rPr lang="it-IT" dirty="0" err="1"/>
              <a:t>observed</a:t>
            </a:r>
            <a:r>
              <a:rPr lang="it-IT" dirty="0"/>
              <a:t> in the </a:t>
            </a:r>
            <a:r>
              <a:rPr lang="it-IT" dirty="0" err="1"/>
              <a:t>visible</a:t>
            </a:r>
            <a:r>
              <a:rPr lang="it-IT" dirty="0"/>
              <a:t> </a:t>
            </a:r>
            <a:r>
              <a:rPr lang="it-IT" dirty="0" err="1"/>
              <a:t>spectrum</a:t>
            </a:r>
            <a:r>
              <a:rPr lang="it-IT" dirty="0"/>
              <a:t>.</a:t>
            </a:r>
          </a:p>
          <a:p>
            <a:r>
              <a:rPr lang="it-IT" dirty="0"/>
              <a:t>False Color </a:t>
            </a:r>
            <a:r>
              <a:rPr lang="it-IT" dirty="0" err="1"/>
              <a:t>composition</a:t>
            </a:r>
            <a:r>
              <a:rPr lang="it-IT" dirty="0"/>
              <a:t> </a:t>
            </a:r>
            <a:r>
              <a:rPr lang="it-IT" dirty="0" err="1"/>
              <a:t>emphazises</a:t>
            </a:r>
            <a:r>
              <a:rPr lang="it-IT" dirty="0"/>
              <a:t> some large </a:t>
            </a:r>
            <a:r>
              <a:rPr lang="it-IT" dirty="0" err="1"/>
              <a:t>areas</a:t>
            </a:r>
            <a:r>
              <a:rPr lang="it-IT" dirty="0"/>
              <a:t> of </a:t>
            </a:r>
            <a:r>
              <a:rPr lang="it-IT" dirty="0" err="1"/>
              <a:t>reduced</a:t>
            </a:r>
            <a:r>
              <a:rPr lang="it-IT" dirty="0"/>
              <a:t> NIR </a:t>
            </a:r>
            <a:r>
              <a:rPr lang="it-IT" dirty="0" err="1"/>
              <a:t>reflection</a:t>
            </a:r>
            <a:r>
              <a:rPr lang="it-IT" dirty="0"/>
              <a:t> </a:t>
            </a:r>
            <a:r>
              <a:rPr lang="it-IT" dirty="0" err="1"/>
              <a:t>caused</a:t>
            </a:r>
            <a:r>
              <a:rPr lang="it-IT" dirty="0"/>
              <a:t> by the </a:t>
            </a:r>
            <a:r>
              <a:rPr lang="it-IT" dirty="0" err="1"/>
              <a:t>bushfires</a:t>
            </a:r>
            <a:r>
              <a:rPr lang="it-IT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933756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B810913-4452-ACDF-7DE6-059DAC8F7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8772"/>
            <a:ext cx="10515600" cy="1325563"/>
          </a:xfrm>
        </p:spPr>
        <p:txBody>
          <a:bodyPr/>
          <a:lstStyle/>
          <a:p>
            <a:r>
              <a:rPr lang="it-IT" b="1" dirty="0"/>
              <a:t>Visual </a:t>
            </a:r>
            <a:r>
              <a:rPr lang="it-IT" b="1" dirty="0" err="1"/>
              <a:t>Interpretation</a:t>
            </a:r>
            <a:r>
              <a:rPr lang="it-IT" b="1" dirty="0"/>
              <a:t> (RGB plots)</a:t>
            </a:r>
          </a:p>
        </p:txBody>
      </p:sp>
      <p:pic>
        <p:nvPicPr>
          <p:cNvPr id="7" name="Immagine 6" descr="Immagine che contiene Policromia, arte&#10;&#10;Descrizione generata automaticamente">
            <a:extLst>
              <a:ext uri="{FF2B5EF4-FFF2-40B4-BE49-F238E27FC236}">
                <a16:creationId xmlns:a16="http://schemas.microsoft.com/office/drawing/2014/main" id="{2C1C4554-E66E-0DB6-DA96-8F323C437A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238" y="1074817"/>
            <a:ext cx="11295522" cy="3851992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E712A2E-F611-FDD1-6D15-33ACE68EAB4F}"/>
              </a:ext>
            </a:extLst>
          </p:cNvPr>
          <p:cNvSpPr txBox="1"/>
          <p:nvPr/>
        </p:nvSpPr>
        <p:spPr>
          <a:xfrm>
            <a:off x="838198" y="5692798"/>
            <a:ext cx="1090556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it-IT" sz="1400" dirty="0"/>
          </a:p>
          <a:p>
            <a:r>
              <a:rPr lang="it-IT" sz="1400" dirty="0" err="1"/>
              <a:t>Multispectral</a:t>
            </a:r>
            <a:r>
              <a:rPr lang="it-IT" sz="1400" dirty="0"/>
              <a:t> RGB </a:t>
            </a:r>
            <a:r>
              <a:rPr lang="it-IT" sz="1400" dirty="0" err="1"/>
              <a:t>colouring</a:t>
            </a:r>
            <a:r>
              <a:rPr lang="it-IT" sz="1400" dirty="0"/>
              <a:t>, </a:t>
            </a:r>
            <a:r>
              <a:rPr lang="it-IT" sz="1400" dirty="0" err="1"/>
              <a:t>obtained</a:t>
            </a:r>
            <a:r>
              <a:rPr lang="it-IT" sz="1400" dirty="0"/>
              <a:t> by </a:t>
            </a:r>
            <a:r>
              <a:rPr lang="it-IT" sz="1400" dirty="0" err="1"/>
              <a:t>combining</a:t>
            </a:r>
            <a:r>
              <a:rPr lang="it-IT" sz="1400" dirty="0"/>
              <a:t> </a:t>
            </a:r>
            <a:r>
              <a:rPr lang="it-IT" sz="1400" dirty="0" err="1"/>
              <a:t>different</a:t>
            </a:r>
            <a:r>
              <a:rPr lang="it-IT" sz="1400" dirty="0"/>
              <a:t> </a:t>
            </a:r>
            <a:r>
              <a:rPr lang="it-IT" sz="1400" dirty="0" err="1"/>
              <a:t>spectral</a:t>
            </a:r>
            <a:r>
              <a:rPr lang="it-IT" sz="1400" dirty="0"/>
              <a:t> </a:t>
            </a:r>
            <a:r>
              <a:rPr lang="it-IT" sz="1400" dirty="0" err="1"/>
              <a:t>bands</a:t>
            </a:r>
            <a:r>
              <a:rPr lang="it-IT" sz="1400" dirty="0"/>
              <a:t>, highlight an </a:t>
            </a:r>
            <a:r>
              <a:rPr lang="it-IT" sz="1400" dirty="0" err="1"/>
              <a:t>increase</a:t>
            </a:r>
            <a:r>
              <a:rPr lang="it-IT" sz="1400" dirty="0"/>
              <a:t> in </a:t>
            </a:r>
            <a:r>
              <a:rPr lang="it-IT" sz="1400" dirty="0" err="1"/>
              <a:t>spatial</a:t>
            </a:r>
            <a:r>
              <a:rPr lang="it-IT" sz="1400" dirty="0"/>
              <a:t> </a:t>
            </a:r>
            <a:r>
              <a:rPr lang="it-IT" sz="1400" dirty="0" err="1"/>
              <a:t>heterogeneity</a:t>
            </a:r>
            <a:r>
              <a:rPr lang="it-IT" sz="1400" dirty="0"/>
              <a:t> </a:t>
            </a:r>
            <a:r>
              <a:rPr lang="it-IT" sz="1400" dirty="0" err="1"/>
              <a:t>between</a:t>
            </a:r>
            <a:r>
              <a:rPr lang="it-IT" sz="1400" dirty="0"/>
              <a:t> 2019 and 2020. </a:t>
            </a:r>
            <a:r>
              <a:rPr lang="it-IT" sz="1400" dirty="0" err="1"/>
              <a:t>While</a:t>
            </a:r>
            <a:r>
              <a:rPr lang="it-IT" sz="1400" dirty="0"/>
              <a:t> the overall </a:t>
            </a:r>
            <a:r>
              <a:rPr lang="it-IT" sz="1400" dirty="0" err="1"/>
              <a:t>geomorphological</a:t>
            </a:r>
            <a:r>
              <a:rPr lang="it-IT" sz="1400" dirty="0"/>
              <a:t> </a:t>
            </a:r>
            <a:r>
              <a:rPr lang="it-IT" sz="1400" dirty="0" err="1"/>
              <a:t>structure</a:t>
            </a:r>
            <a:r>
              <a:rPr lang="it-IT" sz="1400" dirty="0"/>
              <a:t> </a:t>
            </a:r>
            <a:r>
              <a:rPr lang="it-IT" sz="1400" dirty="0" err="1"/>
              <a:t>remain</a:t>
            </a:r>
            <a:r>
              <a:rPr lang="it-IT" sz="1400" dirty="0"/>
              <a:t> </a:t>
            </a:r>
            <a:r>
              <a:rPr lang="it-IT" sz="1400" dirty="0" err="1"/>
              <a:t>recognizable</a:t>
            </a:r>
            <a:r>
              <a:rPr lang="it-IT" sz="1400" dirty="0"/>
              <a:t>, post-</a:t>
            </a:r>
            <a:r>
              <a:rPr lang="it-IT" sz="1400" dirty="0" err="1"/>
              <a:t>fire</a:t>
            </a:r>
            <a:r>
              <a:rPr lang="it-IT" sz="1400" dirty="0"/>
              <a:t> images shows a more </a:t>
            </a:r>
            <a:r>
              <a:rPr lang="it-IT" sz="1400" dirty="0" err="1"/>
              <a:t>fragmented</a:t>
            </a:r>
            <a:r>
              <a:rPr lang="it-IT" sz="1400" dirty="0"/>
              <a:t> </a:t>
            </a:r>
            <a:r>
              <a:rPr lang="it-IT" sz="1400" dirty="0" err="1"/>
              <a:t>spectral</a:t>
            </a:r>
            <a:r>
              <a:rPr lang="it-IT" sz="1400" dirty="0"/>
              <a:t> pattern, </a:t>
            </a:r>
            <a:r>
              <a:rPr lang="it-IT" sz="1400" dirty="0" err="1"/>
              <a:t>consistent</a:t>
            </a:r>
            <a:r>
              <a:rPr lang="it-IT" sz="1400" dirty="0"/>
              <a:t> with </a:t>
            </a:r>
            <a:r>
              <a:rPr lang="it-IT" sz="1400" dirty="0" err="1"/>
              <a:t>vegetation</a:t>
            </a:r>
            <a:r>
              <a:rPr lang="it-IT" sz="1400" dirty="0"/>
              <a:t> </a:t>
            </a:r>
            <a:r>
              <a:rPr lang="it-IT" sz="1400" dirty="0" err="1"/>
              <a:t>healt</a:t>
            </a:r>
            <a:r>
              <a:rPr lang="it-IT" sz="1400" dirty="0"/>
              <a:t> </a:t>
            </a:r>
            <a:r>
              <a:rPr lang="it-IT" sz="1400" dirty="0" err="1"/>
              <a:t>reduction</a:t>
            </a:r>
            <a:r>
              <a:rPr lang="it-IT" sz="1400" dirty="0"/>
              <a:t> and </a:t>
            </a:r>
            <a:r>
              <a:rPr lang="it-IT" sz="1400" dirty="0" err="1"/>
              <a:t>patchy</a:t>
            </a:r>
            <a:r>
              <a:rPr lang="it-IT" sz="1400" dirty="0"/>
              <a:t> recovery following the </a:t>
            </a:r>
            <a:r>
              <a:rPr lang="it-IT" sz="1400" dirty="0" err="1"/>
              <a:t>stressful</a:t>
            </a:r>
            <a:r>
              <a:rPr lang="it-IT" sz="1400" dirty="0"/>
              <a:t> event.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19D11BD5-4466-9930-2513-4DAF0E35AF52}"/>
              </a:ext>
            </a:extLst>
          </p:cNvPr>
          <p:cNvSpPr txBox="1"/>
          <p:nvPr/>
        </p:nvSpPr>
        <p:spPr>
          <a:xfrm>
            <a:off x="342900" y="2070100"/>
            <a:ext cx="711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2019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1B4771F2-84F7-3EBA-8186-B9D9351A4B42}"/>
              </a:ext>
            </a:extLst>
          </p:cNvPr>
          <p:cNvSpPr txBox="1"/>
          <p:nvPr/>
        </p:nvSpPr>
        <p:spPr>
          <a:xfrm>
            <a:off x="342900" y="4049237"/>
            <a:ext cx="711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2020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B6B6BEFA-0DEC-CBAE-2191-C1E4EFDF5B90}"/>
              </a:ext>
            </a:extLst>
          </p:cNvPr>
          <p:cNvSpPr txBox="1"/>
          <p:nvPr/>
        </p:nvSpPr>
        <p:spPr>
          <a:xfrm>
            <a:off x="838198" y="5070072"/>
            <a:ext cx="35052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NIR on red: 2020 red color </a:t>
            </a:r>
            <a:r>
              <a:rPr lang="it-IT" sz="1400" dirty="0" err="1"/>
              <a:t>is</a:t>
            </a:r>
            <a:r>
              <a:rPr lang="it-IT" sz="1400" dirty="0"/>
              <a:t> </a:t>
            </a:r>
            <a:r>
              <a:rPr lang="it-IT" sz="1400" dirty="0" err="1"/>
              <a:t>less</a:t>
            </a:r>
            <a:r>
              <a:rPr lang="it-IT" sz="1400" dirty="0"/>
              <a:t> </a:t>
            </a:r>
            <a:r>
              <a:rPr lang="it-IT" sz="1400" dirty="0" err="1"/>
              <a:t>continuous</a:t>
            </a:r>
            <a:r>
              <a:rPr lang="it-IT" sz="1400" dirty="0"/>
              <a:t> -&gt;  </a:t>
            </a:r>
            <a:r>
              <a:rPr lang="it-IT" sz="1400" dirty="0" err="1"/>
              <a:t>reduction</a:t>
            </a:r>
            <a:r>
              <a:rPr lang="it-IT" sz="1400" dirty="0"/>
              <a:t> in NIR </a:t>
            </a:r>
            <a:r>
              <a:rPr lang="it-IT" sz="1400" dirty="0" err="1"/>
              <a:t>reflectance</a:t>
            </a:r>
            <a:r>
              <a:rPr lang="it-IT" sz="1400" dirty="0"/>
              <a:t> due to </a:t>
            </a:r>
            <a:r>
              <a:rPr lang="it-IT" sz="1400" dirty="0" err="1"/>
              <a:t>fires</a:t>
            </a:r>
            <a:r>
              <a:rPr lang="it-IT" sz="1400" dirty="0"/>
              <a:t>. The </a:t>
            </a:r>
            <a:r>
              <a:rPr lang="it-IT" sz="1400" dirty="0" err="1"/>
              <a:t>vegetation</a:t>
            </a:r>
            <a:r>
              <a:rPr lang="it-IT" sz="1400" dirty="0"/>
              <a:t> </a:t>
            </a:r>
            <a:r>
              <a:rPr lang="it-IT" sz="1400" dirty="0" err="1"/>
              <a:t>is</a:t>
            </a:r>
            <a:r>
              <a:rPr lang="it-IT" sz="1400" dirty="0"/>
              <a:t> </a:t>
            </a:r>
            <a:r>
              <a:rPr lang="it-IT" sz="1400" dirty="0" err="1"/>
              <a:t>less</a:t>
            </a:r>
            <a:r>
              <a:rPr lang="it-IT" sz="1400" dirty="0"/>
              <a:t> </a:t>
            </a:r>
            <a:r>
              <a:rPr lang="it-IT" sz="1400" dirty="0" err="1"/>
              <a:t>healthy</a:t>
            </a:r>
            <a:r>
              <a:rPr lang="it-IT" sz="1400" dirty="0"/>
              <a:t>.</a:t>
            </a:r>
          </a:p>
          <a:p>
            <a:endParaRPr lang="it-IT" dirty="0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9B616DD5-EEEF-2084-78FC-9B85D1F6E6ED}"/>
              </a:ext>
            </a:extLst>
          </p:cNvPr>
          <p:cNvSpPr txBox="1"/>
          <p:nvPr/>
        </p:nvSpPr>
        <p:spPr>
          <a:xfrm>
            <a:off x="4540251" y="5070073"/>
            <a:ext cx="35052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NIR on green: 2020 more </a:t>
            </a:r>
            <a:r>
              <a:rPr lang="it-IT" sz="1400" dirty="0" err="1"/>
              <a:t>irregular</a:t>
            </a:r>
            <a:r>
              <a:rPr lang="it-IT" sz="1400" dirty="0"/>
              <a:t> patches </a:t>
            </a:r>
          </a:p>
          <a:p>
            <a:r>
              <a:rPr lang="it-IT" sz="1400" dirty="0"/>
              <a:t>-&gt; </a:t>
            </a:r>
            <a:r>
              <a:rPr lang="it-IT" sz="1400" dirty="0" err="1"/>
              <a:t>early</a:t>
            </a:r>
            <a:r>
              <a:rPr lang="it-IT" sz="1400" dirty="0"/>
              <a:t> </a:t>
            </a:r>
            <a:r>
              <a:rPr lang="it-IT" sz="1400" dirty="0" err="1"/>
              <a:t>regrowing</a:t>
            </a:r>
            <a:r>
              <a:rPr lang="it-IT" sz="1400" dirty="0"/>
              <a:t> and </a:t>
            </a:r>
            <a:r>
              <a:rPr lang="it-IT" sz="1400" dirty="0" err="1"/>
              <a:t>exposed</a:t>
            </a:r>
            <a:r>
              <a:rPr lang="it-IT" sz="1400" dirty="0"/>
              <a:t> </a:t>
            </a:r>
            <a:r>
              <a:rPr lang="it-IT" sz="1400" dirty="0" err="1"/>
              <a:t>soil</a:t>
            </a:r>
            <a:r>
              <a:rPr lang="it-IT" sz="1400" dirty="0"/>
              <a:t>. The </a:t>
            </a:r>
            <a:r>
              <a:rPr lang="it-IT" sz="1400" dirty="0" err="1"/>
              <a:t>vegetation</a:t>
            </a:r>
            <a:r>
              <a:rPr lang="it-IT" sz="1400" dirty="0"/>
              <a:t> </a:t>
            </a:r>
            <a:r>
              <a:rPr lang="it-IT" sz="1400" dirty="0" err="1"/>
              <a:t>is</a:t>
            </a:r>
            <a:r>
              <a:rPr lang="it-IT" sz="1400" dirty="0"/>
              <a:t> more </a:t>
            </a:r>
            <a:r>
              <a:rPr lang="it-IT" sz="1400" dirty="0" err="1"/>
              <a:t>stressed</a:t>
            </a:r>
            <a:r>
              <a:rPr lang="it-IT" sz="1400" dirty="0"/>
              <a:t>.</a:t>
            </a:r>
          </a:p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7AC6162-9DE0-4E41-C6F3-4B4F571BC8B0}"/>
              </a:ext>
            </a:extLst>
          </p:cNvPr>
          <p:cNvSpPr txBox="1"/>
          <p:nvPr/>
        </p:nvSpPr>
        <p:spPr>
          <a:xfrm>
            <a:off x="8420102" y="5105044"/>
            <a:ext cx="3771898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NIR on blue: 2020 more </a:t>
            </a:r>
            <a:r>
              <a:rPr lang="it-IT" sz="1400" dirty="0" err="1"/>
              <a:t>landscape</a:t>
            </a:r>
            <a:r>
              <a:rPr lang="it-IT" sz="1400" dirty="0"/>
              <a:t> </a:t>
            </a:r>
            <a:r>
              <a:rPr lang="it-IT" sz="1400" dirty="0" err="1"/>
              <a:t>heterogeneity</a:t>
            </a:r>
            <a:r>
              <a:rPr lang="it-IT" sz="1400" dirty="0"/>
              <a:t>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4941055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944155-B172-44F9-2C05-19FDA6D0D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 err="1"/>
              <a:t>Vegetation</a:t>
            </a:r>
            <a:r>
              <a:rPr lang="it-IT" b="1" dirty="0"/>
              <a:t> Health Index</a:t>
            </a:r>
            <a:br>
              <a:rPr lang="it-IT" b="1" dirty="0"/>
            </a:br>
            <a:r>
              <a:rPr lang="it-IT" b="1" dirty="0"/>
              <a:t>DVI = NIR -red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727BB5C-8247-943D-8726-7774474EE2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51586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dirty="0"/>
              <a:t>- </a:t>
            </a:r>
            <a:r>
              <a:rPr lang="it-IT" sz="2000" b="1" dirty="0" err="1"/>
              <a:t>Decrease</a:t>
            </a:r>
            <a:r>
              <a:rPr lang="it-IT" sz="2000" dirty="0"/>
              <a:t> </a:t>
            </a:r>
            <a:r>
              <a:rPr lang="it-IT" sz="2000" b="1" dirty="0"/>
              <a:t>in minimum range </a:t>
            </a:r>
            <a:r>
              <a:rPr lang="it-IT" sz="2000" dirty="0"/>
              <a:t>in 2020 (-90). </a:t>
            </a:r>
            <a:r>
              <a:rPr lang="it-IT" sz="2000" dirty="0" err="1"/>
              <a:t>This</a:t>
            </a:r>
            <a:r>
              <a:rPr lang="it-IT" sz="2000" dirty="0"/>
              <a:t> </a:t>
            </a:r>
            <a:r>
              <a:rPr lang="it-IT" sz="2000" dirty="0" err="1"/>
              <a:t>indicates</a:t>
            </a:r>
            <a:r>
              <a:rPr lang="it-IT" sz="2000" dirty="0"/>
              <a:t> </a:t>
            </a:r>
            <a:r>
              <a:rPr lang="it-IT" sz="2000" dirty="0" err="1"/>
              <a:t>areas</a:t>
            </a:r>
            <a:r>
              <a:rPr lang="it-IT" sz="2000" dirty="0"/>
              <a:t> </a:t>
            </a:r>
            <a:r>
              <a:rPr lang="it-IT" sz="2000" dirty="0" err="1"/>
              <a:t>where</a:t>
            </a:r>
            <a:r>
              <a:rPr lang="it-IT" sz="2000" dirty="0"/>
              <a:t> red </a:t>
            </a:r>
            <a:r>
              <a:rPr lang="it-IT" sz="2000" dirty="0" err="1"/>
              <a:t>reflectance</a:t>
            </a:r>
            <a:r>
              <a:rPr lang="it-IT" sz="2000" dirty="0"/>
              <a:t> </a:t>
            </a:r>
            <a:r>
              <a:rPr lang="it-IT" sz="2000" dirty="0" err="1"/>
              <a:t>exceed</a:t>
            </a:r>
            <a:r>
              <a:rPr lang="it-IT" sz="2000" dirty="0"/>
              <a:t> the NIR </a:t>
            </a:r>
            <a:r>
              <a:rPr lang="it-IT" sz="2000" dirty="0" err="1"/>
              <a:t>reflectance</a:t>
            </a:r>
            <a:r>
              <a:rPr lang="it-IT" sz="2000" dirty="0"/>
              <a:t>, a clear </a:t>
            </a:r>
            <a:r>
              <a:rPr lang="it-IT" sz="2000" dirty="0" err="1"/>
              <a:t>sign</a:t>
            </a:r>
            <a:r>
              <a:rPr lang="it-IT" sz="2000" dirty="0"/>
              <a:t> of </a:t>
            </a:r>
            <a:r>
              <a:rPr lang="it-IT" sz="2000" dirty="0" err="1"/>
              <a:t>clorophyll</a:t>
            </a:r>
            <a:r>
              <a:rPr lang="it-IT" sz="2000" dirty="0"/>
              <a:t> </a:t>
            </a:r>
            <a:r>
              <a:rPr lang="it-IT" sz="2000" dirty="0" err="1"/>
              <a:t>loss</a:t>
            </a:r>
            <a:r>
              <a:rPr lang="it-IT" sz="2000" dirty="0"/>
              <a:t>: with </a:t>
            </a:r>
            <a:r>
              <a:rPr lang="it-IT" sz="2000" dirty="0" err="1"/>
              <a:t>less</a:t>
            </a:r>
            <a:r>
              <a:rPr lang="it-IT" sz="2000" dirty="0"/>
              <a:t> </a:t>
            </a:r>
            <a:r>
              <a:rPr lang="it-IT" sz="2000" dirty="0" err="1"/>
              <a:t>photosynthesis</a:t>
            </a:r>
            <a:r>
              <a:rPr lang="it-IT" sz="2000" dirty="0"/>
              <a:t>, red </a:t>
            </a:r>
            <a:r>
              <a:rPr lang="it-IT" sz="2000" dirty="0" err="1"/>
              <a:t>wavelengths</a:t>
            </a:r>
            <a:r>
              <a:rPr lang="it-IT" sz="2000" dirty="0"/>
              <a:t> are </a:t>
            </a:r>
            <a:r>
              <a:rPr lang="it-IT" sz="2000" dirty="0" err="1"/>
              <a:t>less</a:t>
            </a:r>
            <a:r>
              <a:rPr lang="it-IT" sz="2000" dirty="0"/>
              <a:t> </a:t>
            </a:r>
            <a:r>
              <a:rPr lang="it-IT" sz="2000" dirty="0" err="1"/>
              <a:t>absorbed</a:t>
            </a:r>
            <a:r>
              <a:rPr lang="it-IT" sz="2000" dirty="0"/>
              <a:t> and so </a:t>
            </a:r>
            <a:r>
              <a:rPr lang="it-IT" sz="2000" dirty="0" err="1"/>
              <a:t>vegetation</a:t>
            </a:r>
            <a:r>
              <a:rPr lang="it-IT" sz="2000" dirty="0"/>
              <a:t> </a:t>
            </a:r>
            <a:r>
              <a:rPr lang="it-IT" sz="2000" dirty="0" err="1"/>
              <a:t>is</a:t>
            </a:r>
            <a:r>
              <a:rPr lang="it-IT" sz="2000" dirty="0"/>
              <a:t> </a:t>
            </a:r>
            <a:r>
              <a:rPr lang="it-IT" sz="2000" dirty="0" err="1"/>
              <a:t>less</a:t>
            </a:r>
            <a:r>
              <a:rPr lang="it-IT" sz="2000" dirty="0"/>
              <a:t> or </a:t>
            </a:r>
            <a:r>
              <a:rPr lang="it-IT" sz="2000" dirty="0" err="1"/>
              <a:t>stressed</a:t>
            </a:r>
            <a:r>
              <a:rPr lang="it-IT" sz="2000" dirty="0"/>
              <a:t>. </a:t>
            </a:r>
          </a:p>
          <a:p>
            <a:pPr marL="0" indent="0">
              <a:buNone/>
            </a:pPr>
            <a:r>
              <a:rPr lang="it-IT" sz="2000" dirty="0"/>
              <a:t>- </a:t>
            </a:r>
            <a:r>
              <a:rPr lang="it-IT" sz="2000" b="1" dirty="0" err="1"/>
              <a:t>Higher</a:t>
            </a:r>
            <a:r>
              <a:rPr lang="it-IT" sz="2000" b="1" dirty="0"/>
              <a:t> maximum </a:t>
            </a:r>
            <a:r>
              <a:rPr lang="it-IT" sz="2000" b="1" dirty="0" err="1"/>
              <a:t>value</a:t>
            </a:r>
            <a:r>
              <a:rPr lang="it-IT" sz="2000" dirty="0"/>
              <a:t> in 2020 (200), </a:t>
            </a:r>
            <a:r>
              <a:rPr lang="it-IT" sz="2000" dirty="0" err="1"/>
              <a:t>it's</a:t>
            </a:r>
            <a:r>
              <a:rPr lang="it-IT" sz="2000" dirty="0"/>
              <a:t> </a:t>
            </a:r>
            <a:r>
              <a:rPr lang="it-IT" sz="2000" dirty="0" err="1"/>
              <a:t>likely</a:t>
            </a:r>
            <a:r>
              <a:rPr lang="it-IT" sz="2000" dirty="0"/>
              <a:t> </a:t>
            </a:r>
            <a:r>
              <a:rPr lang="it-IT" sz="2000" dirty="0" err="1"/>
              <a:t>not</a:t>
            </a:r>
            <a:r>
              <a:rPr lang="it-IT" sz="2000" dirty="0"/>
              <a:t> due to </a:t>
            </a:r>
            <a:r>
              <a:rPr lang="it-IT" sz="2000" dirty="0" err="1"/>
              <a:t>better</a:t>
            </a:r>
            <a:r>
              <a:rPr lang="it-IT" sz="2000" dirty="0"/>
              <a:t> </a:t>
            </a:r>
            <a:r>
              <a:rPr lang="it-IT" sz="2000" dirty="0" err="1"/>
              <a:t>vegetation</a:t>
            </a:r>
            <a:r>
              <a:rPr lang="it-IT" sz="2000" dirty="0"/>
              <a:t>, </a:t>
            </a:r>
            <a:r>
              <a:rPr lang="it-IT" sz="2000" dirty="0" err="1"/>
              <a:t>but</a:t>
            </a:r>
            <a:r>
              <a:rPr lang="it-IT" sz="2000" dirty="0"/>
              <a:t> </a:t>
            </a:r>
            <a:r>
              <a:rPr lang="it-IT" sz="2000" dirty="0" err="1"/>
              <a:t>rather</a:t>
            </a:r>
            <a:r>
              <a:rPr lang="it-IT" sz="2000" dirty="0"/>
              <a:t> to </a:t>
            </a:r>
            <a:r>
              <a:rPr lang="it-IT" sz="2000" dirty="0" err="1"/>
              <a:t>different</a:t>
            </a:r>
            <a:r>
              <a:rPr lang="it-IT" sz="2000" dirty="0"/>
              <a:t> </a:t>
            </a:r>
            <a:r>
              <a:rPr lang="it-IT" sz="2000" dirty="0" err="1"/>
              <a:t>atmospheric</a:t>
            </a:r>
            <a:r>
              <a:rPr lang="it-IT" sz="2000" dirty="0"/>
              <a:t> </a:t>
            </a:r>
            <a:r>
              <a:rPr lang="it-IT" sz="2000" dirty="0" err="1"/>
              <a:t>illumination</a:t>
            </a:r>
            <a:r>
              <a:rPr lang="it-IT" sz="2000" dirty="0"/>
              <a:t> or the high overall </a:t>
            </a:r>
            <a:r>
              <a:rPr lang="it-IT" sz="2000" dirty="0" err="1"/>
              <a:t>reflectance</a:t>
            </a:r>
            <a:r>
              <a:rPr lang="it-IT" sz="2000" dirty="0"/>
              <a:t> of </a:t>
            </a:r>
            <a:r>
              <a:rPr lang="it-IT" sz="2000" dirty="0" err="1"/>
              <a:t>exposed</a:t>
            </a:r>
            <a:r>
              <a:rPr lang="it-IT" sz="2000" dirty="0"/>
              <a:t> bare rocks or </a:t>
            </a:r>
            <a:r>
              <a:rPr lang="it-IT" sz="2000" dirty="0" err="1"/>
              <a:t>soil</a:t>
            </a:r>
            <a:r>
              <a:rPr lang="it-IT" sz="2000" dirty="0"/>
              <a:t>, </a:t>
            </a:r>
            <a:r>
              <a:rPr lang="it-IT" sz="2000" dirty="0" err="1"/>
              <a:t>which</a:t>
            </a:r>
            <a:r>
              <a:rPr lang="it-IT" sz="2000" dirty="0"/>
              <a:t> can </a:t>
            </a:r>
            <a:r>
              <a:rPr lang="it-IT" sz="2000" dirty="0" err="1"/>
              <a:t>reflect</a:t>
            </a:r>
            <a:r>
              <a:rPr lang="it-IT" sz="2000" dirty="0"/>
              <a:t> </a:t>
            </a:r>
            <a:r>
              <a:rPr lang="it-IT" sz="2000" dirty="0" err="1"/>
              <a:t>strongly</a:t>
            </a:r>
            <a:r>
              <a:rPr lang="it-IT" sz="2000" dirty="0"/>
              <a:t> </a:t>
            </a:r>
            <a:r>
              <a:rPr lang="it-IT" sz="2000" dirty="0" err="1"/>
              <a:t>across</a:t>
            </a:r>
            <a:r>
              <a:rPr lang="it-IT" sz="2000" dirty="0"/>
              <a:t> the </a:t>
            </a:r>
            <a:r>
              <a:rPr lang="it-IT" sz="2000" dirty="0" err="1"/>
              <a:t>entire</a:t>
            </a:r>
            <a:r>
              <a:rPr lang="it-IT" sz="2000" dirty="0"/>
              <a:t> </a:t>
            </a:r>
            <a:r>
              <a:rPr lang="it-IT" sz="2000" dirty="0" err="1"/>
              <a:t>spectrum</a:t>
            </a:r>
            <a:r>
              <a:rPr lang="it-IT" sz="2000" dirty="0"/>
              <a:t>.</a:t>
            </a:r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r>
              <a:rPr lang="it-IT" sz="2000" dirty="0"/>
              <a:t>DVI </a:t>
            </a:r>
            <a:r>
              <a:rPr lang="it-IT" sz="2000" dirty="0" err="1"/>
              <a:t>consent</a:t>
            </a:r>
            <a:r>
              <a:rPr lang="it-IT" sz="2000" dirty="0"/>
              <a:t> to </a:t>
            </a:r>
            <a:r>
              <a:rPr lang="it-IT" sz="2000" dirty="0" err="1"/>
              <a:t>observe</a:t>
            </a:r>
            <a:r>
              <a:rPr lang="it-IT" sz="2000" dirty="0"/>
              <a:t> the </a:t>
            </a:r>
            <a:r>
              <a:rPr lang="it-IT" sz="2000" dirty="0" err="1"/>
              <a:t>physical</a:t>
            </a:r>
            <a:r>
              <a:rPr lang="it-IT" sz="2000" dirty="0"/>
              <a:t> </a:t>
            </a:r>
            <a:r>
              <a:rPr lang="it-IT" sz="2000" dirty="0" err="1"/>
              <a:t>behavior</a:t>
            </a:r>
            <a:r>
              <a:rPr lang="it-IT" sz="2000" dirty="0"/>
              <a:t> of the </a:t>
            </a:r>
            <a:r>
              <a:rPr lang="it-IT" sz="2000" dirty="0" err="1"/>
              <a:t>spectral</a:t>
            </a:r>
            <a:r>
              <a:rPr lang="it-IT" sz="2000" dirty="0"/>
              <a:t> of the NIR-red </a:t>
            </a:r>
            <a:r>
              <a:rPr lang="it-IT" sz="2000" dirty="0" err="1"/>
              <a:t>bands</a:t>
            </a:r>
            <a:r>
              <a:rPr lang="it-IT" sz="2000" dirty="0"/>
              <a:t> and the </a:t>
            </a:r>
            <a:r>
              <a:rPr lang="it-IT" sz="2000" dirty="0" err="1"/>
              <a:t>direct</a:t>
            </a:r>
            <a:r>
              <a:rPr lang="it-IT" sz="2000" dirty="0"/>
              <a:t> </a:t>
            </a:r>
            <a:r>
              <a:rPr lang="it-IT" sz="2000" dirty="0" err="1"/>
              <a:t>loss</a:t>
            </a:r>
            <a:r>
              <a:rPr lang="it-IT" sz="2000" dirty="0"/>
              <a:t> of </a:t>
            </a:r>
            <a:r>
              <a:rPr lang="it-IT" sz="2000" dirty="0" err="1"/>
              <a:t>photosynthetic</a:t>
            </a:r>
            <a:r>
              <a:rPr lang="it-IT" sz="2000" dirty="0"/>
              <a:t> </a:t>
            </a:r>
            <a:r>
              <a:rPr lang="it-IT" sz="2000" dirty="0" err="1"/>
              <a:t>efficiency</a:t>
            </a:r>
            <a:r>
              <a:rPr lang="it-IT" sz="2000" dirty="0"/>
              <a:t>. NDVI </a:t>
            </a:r>
            <a:r>
              <a:rPr lang="it-IT" sz="2000" dirty="0" err="1"/>
              <a:t>is</a:t>
            </a:r>
            <a:r>
              <a:rPr lang="it-IT" sz="2000" dirty="0"/>
              <a:t> </a:t>
            </a:r>
            <a:r>
              <a:rPr lang="it-IT" sz="2000" dirty="0" err="1"/>
              <a:t>essential</a:t>
            </a:r>
            <a:r>
              <a:rPr lang="it-IT" sz="2000" dirty="0"/>
              <a:t> to </a:t>
            </a:r>
            <a:r>
              <a:rPr lang="it-IT" sz="2000" dirty="0" err="1"/>
              <a:t>normalize</a:t>
            </a:r>
            <a:r>
              <a:rPr lang="it-IT" sz="2000" dirty="0"/>
              <a:t> the data by filtering out </a:t>
            </a:r>
            <a:r>
              <a:rPr lang="it-IT" sz="2000" dirty="0" err="1"/>
              <a:t>potential</a:t>
            </a:r>
            <a:r>
              <a:rPr lang="it-IT" sz="2000" dirty="0"/>
              <a:t> "</a:t>
            </a:r>
            <a:r>
              <a:rPr lang="it-IT" sz="2000" dirty="0" err="1"/>
              <a:t>noise</a:t>
            </a:r>
            <a:r>
              <a:rPr lang="it-IT" sz="2000" dirty="0"/>
              <a:t>" </a:t>
            </a:r>
            <a:r>
              <a:rPr lang="it-IT" sz="2000" dirty="0" err="1"/>
              <a:t>caused</a:t>
            </a:r>
            <a:r>
              <a:rPr lang="it-IT" sz="2000" dirty="0"/>
              <a:t> by </a:t>
            </a:r>
            <a:r>
              <a:rPr lang="it-IT" sz="2000" dirty="0" err="1"/>
              <a:t>different</a:t>
            </a:r>
            <a:r>
              <a:rPr lang="it-IT" sz="2000" dirty="0"/>
              <a:t> </a:t>
            </a:r>
            <a:r>
              <a:rPr lang="it-IT" sz="2000" dirty="0" err="1"/>
              <a:t>illumination</a:t>
            </a:r>
            <a:r>
              <a:rPr lang="it-IT" sz="2000" dirty="0"/>
              <a:t> or </a:t>
            </a:r>
            <a:r>
              <a:rPr lang="it-IT" sz="2000" dirty="0" err="1"/>
              <a:t>atmospheric</a:t>
            </a:r>
            <a:r>
              <a:rPr lang="it-IT" sz="2000" dirty="0"/>
              <a:t> </a:t>
            </a:r>
            <a:r>
              <a:rPr lang="it-IT" sz="2000" dirty="0" err="1"/>
              <a:t>conditions</a:t>
            </a:r>
            <a:r>
              <a:rPr lang="it-IT" sz="2000" dirty="0"/>
              <a:t>.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B1EEE7AA-D95F-AC81-CD4D-20F2D58884B0}"/>
              </a:ext>
            </a:extLst>
          </p:cNvPr>
          <p:cNvSpPr txBox="1"/>
          <p:nvPr/>
        </p:nvSpPr>
        <p:spPr>
          <a:xfrm>
            <a:off x="838200" y="1866701"/>
            <a:ext cx="4470400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it-IT" sz="2000" dirty="0">
                <a:solidFill>
                  <a:srgbClr val="0070C0"/>
                </a:solidFill>
              </a:rPr>
              <a:t>2019: DVI range covers from -75 to 179. </a:t>
            </a:r>
          </a:p>
          <a:p>
            <a:pPr marL="0" indent="0">
              <a:buNone/>
            </a:pPr>
            <a:r>
              <a:rPr lang="it-IT" sz="2000" dirty="0">
                <a:solidFill>
                  <a:srgbClr val="FF0000"/>
                </a:solidFill>
              </a:rPr>
              <a:t>2020: DVI range covers from -90 to 200.</a:t>
            </a:r>
          </a:p>
          <a:p>
            <a:endParaRPr lang="it-IT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6630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E7D8C43-44B4-BE32-CEB0-9CBF010D6A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 err="1"/>
              <a:t>Vegetation</a:t>
            </a:r>
            <a:r>
              <a:rPr lang="it-IT" b="1" dirty="0"/>
              <a:t> Health Index</a:t>
            </a:r>
            <a:br>
              <a:rPr lang="it-IT" b="1" dirty="0"/>
            </a:br>
            <a:r>
              <a:rPr lang="it-IT" b="1" dirty="0"/>
              <a:t>NDVI</a:t>
            </a:r>
            <a:endParaRPr lang="it-IT" dirty="0"/>
          </a:p>
        </p:txBody>
      </p:sp>
      <p:pic>
        <p:nvPicPr>
          <p:cNvPr id="9" name="Segnaposto contenuto 8" descr="Immagine che contiene testo, mappa, schermata&#10;&#10;Descrizione generata automaticamente">
            <a:extLst>
              <a:ext uri="{FF2B5EF4-FFF2-40B4-BE49-F238E27FC236}">
                <a16:creationId xmlns:a16="http://schemas.microsoft.com/office/drawing/2014/main" id="{0ADDD4A5-97DF-9FE7-9EFB-4FF04A3ED6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519237"/>
            <a:ext cx="4657725" cy="5328645"/>
          </a:xfrm>
        </p:spPr>
      </p:pic>
      <p:pic>
        <p:nvPicPr>
          <p:cNvPr id="11" name="Immagine 10" descr="Immagine che contiene testo, schermata&#10;&#10;Descrizione generata automaticamente">
            <a:extLst>
              <a:ext uri="{FF2B5EF4-FFF2-40B4-BE49-F238E27FC236}">
                <a16:creationId xmlns:a16="http://schemas.microsoft.com/office/drawing/2014/main" id="{1CE0103D-C15A-33A5-DA45-25B10915E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059" y="2107109"/>
            <a:ext cx="3779881" cy="4324351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2A5128F1-8EAF-524B-346C-F93C6997D8AA}"/>
              </a:ext>
            </a:extLst>
          </p:cNvPr>
          <p:cNvSpPr txBox="1"/>
          <p:nvPr/>
        </p:nvSpPr>
        <p:spPr>
          <a:xfrm>
            <a:off x="7729538" y="1257300"/>
            <a:ext cx="4462462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rgbClr val="0070C0"/>
                </a:solidFill>
              </a:rPr>
              <a:t>2019</a:t>
            </a:r>
            <a:r>
              <a:rPr lang="it-IT" dirty="0"/>
              <a:t>: </a:t>
            </a:r>
            <a:r>
              <a:rPr lang="it-IT" dirty="0" err="1"/>
              <a:t>mean</a:t>
            </a:r>
            <a:r>
              <a:rPr lang="it-IT" dirty="0"/>
              <a:t> </a:t>
            </a:r>
            <a:r>
              <a:rPr lang="it-IT" dirty="0" err="1"/>
              <a:t>elevated</a:t>
            </a:r>
            <a:r>
              <a:rPr lang="it-IT" dirty="0"/>
              <a:t> and </a:t>
            </a:r>
            <a:r>
              <a:rPr lang="it-IT" dirty="0" err="1"/>
              <a:t>homogeneous</a:t>
            </a:r>
            <a:r>
              <a:rPr lang="it-IT" dirty="0"/>
              <a:t> </a:t>
            </a:r>
            <a:r>
              <a:rPr lang="it-IT" dirty="0" err="1"/>
              <a:t>values</a:t>
            </a:r>
            <a:r>
              <a:rPr lang="it-IT" dirty="0"/>
              <a:t>. </a:t>
            </a:r>
            <a:r>
              <a:rPr lang="it-IT" dirty="0" err="1"/>
              <a:t>Spatial</a:t>
            </a:r>
            <a:r>
              <a:rPr lang="it-IT" dirty="0"/>
              <a:t> </a:t>
            </a:r>
            <a:r>
              <a:rPr lang="it-IT" dirty="0" err="1"/>
              <a:t>continuous</a:t>
            </a:r>
            <a:r>
              <a:rPr lang="it-IT" dirty="0"/>
              <a:t> </a:t>
            </a:r>
            <a:r>
              <a:rPr lang="it-IT" dirty="0" err="1"/>
              <a:t>consistency</a:t>
            </a:r>
            <a:r>
              <a:rPr lang="it-IT" dirty="0"/>
              <a:t> </a:t>
            </a:r>
            <a:r>
              <a:rPr lang="it-IT" dirty="0" err="1"/>
              <a:t>along</a:t>
            </a:r>
            <a:r>
              <a:rPr lang="it-IT" dirty="0"/>
              <a:t> </a:t>
            </a:r>
            <a:r>
              <a:rPr lang="it-IT" dirty="0" err="1"/>
              <a:t>valleys</a:t>
            </a:r>
            <a:r>
              <a:rPr lang="it-IT" dirty="0"/>
              <a:t> and </a:t>
            </a:r>
            <a:r>
              <a:rPr lang="it-IT" dirty="0" err="1"/>
              <a:t>slopes</a:t>
            </a:r>
            <a:r>
              <a:rPr lang="it-IT" dirty="0"/>
              <a:t>. </a:t>
            </a:r>
            <a:r>
              <a:rPr lang="it-IT" dirty="0" err="1"/>
              <a:t>Structurally</a:t>
            </a:r>
            <a:r>
              <a:rPr lang="it-IT" dirty="0"/>
              <a:t> </a:t>
            </a:r>
            <a:r>
              <a:rPr lang="it-IT" dirty="0" err="1"/>
              <a:t>stable</a:t>
            </a:r>
            <a:r>
              <a:rPr lang="it-IT" dirty="0"/>
              <a:t> </a:t>
            </a:r>
            <a:r>
              <a:rPr lang="it-IT" dirty="0" err="1"/>
              <a:t>landscape</a:t>
            </a:r>
            <a:r>
              <a:rPr lang="it-IT" dirty="0"/>
              <a:t>.</a:t>
            </a:r>
          </a:p>
          <a:p>
            <a:r>
              <a:rPr lang="it-IT" dirty="0">
                <a:solidFill>
                  <a:srgbClr val="FF0000"/>
                </a:solidFill>
              </a:rPr>
              <a:t>2020</a:t>
            </a:r>
            <a:r>
              <a:rPr lang="it-IT" dirty="0"/>
              <a:t>: </a:t>
            </a:r>
            <a:r>
              <a:rPr lang="it-IT" dirty="0" err="1"/>
              <a:t>generalized</a:t>
            </a:r>
            <a:r>
              <a:rPr lang="it-IT" dirty="0"/>
              <a:t> </a:t>
            </a:r>
            <a:r>
              <a:rPr lang="it-IT" dirty="0" err="1"/>
              <a:t>diminuation</a:t>
            </a:r>
            <a:r>
              <a:rPr lang="it-IT" dirty="0"/>
              <a:t> of NDVI </a:t>
            </a:r>
            <a:r>
              <a:rPr lang="it-IT" dirty="0" err="1"/>
              <a:t>values</a:t>
            </a:r>
            <a:r>
              <a:rPr lang="it-IT" dirty="0"/>
              <a:t>, large </a:t>
            </a:r>
            <a:r>
              <a:rPr lang="it-IT" dirty="0" err="1"/>
              <a:t>areas</a:t>
            </a:r>
            <a:r>
              <a:rPr lang="it-IT" dirty="0"/>
              <a:t> with low NDVI. Pattern more </a:t>
            </a:r>
            <a:r>
              <a:rPr lang="it-IT" dirty="0" err="1"/>
              <a:t>fragmented</a:t>
            </a:r>
            <a:r>
              <a:rPr lang="it-IT" dirty="0"/>
              <a:t> and more </a:t>
            </a:r>
            <a:r>
              <a:rPr lang="it-IT" dirty="0" err="1"/>
              <a:t>evident</a:t>
            </a:r>
            <a:r>
              <a:rPr lang="it-IT" dirty="0"/>
              <a:t> </a:t>
            </a:r>
            <a:r>
              <a:rPr lang="it-IT" dirty="0" err="1"/>
              <a:t>contrast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</a:t>
            </a:r>
            <a:r>
              <a:rPr lang="it-IT" dirty="0" err="1"/>
              <a:t>near</a:t>
            </a:r>
            <a:r>
              <a:rPr lang="it-IT" dirty="0"/>
              <a:t> patches. </a:t>
            </a:r>
            <a:r>
              <a:rPr lang="it-IT" dirty="0" err="1"/>
              <a:t>Caused</a:t>
            </a:r>
            <a:r>
              <a:rPr lang="it-IT" dirty="0"/>
              <a:t> by the </a:t>
            </a:r>
            <a:r>
              <a:rPr lang="it-IT" dirty="0" err="1"/>
              <a:t>loss</a:t>
            </a:r>
            <a:r>
              <a:rPr lang="it-IT" dirty="0"/>
              <a:t> of </a:t>
            </a:r>
            <a:r>
              <a:rPr lang="it-IT" dirty="0" err="1"/>
              <a:t>biomass</a:t>
            </a:r>
            <a:r>
              <a:rPr lang="it-IT" dirty="0"/>
              <a:t>, by the </a:t>
            </a:r>
            <a:r>
              <a:rPr lang="it-IT" dirty="0" err="1"/>
              <a:t>vegetation's</a:t>
            </a:r>
            <a:r>
              <a:rPr lang="it-IT" dirty="0"/>
              <a:t> stress and by the </a:t>
            </a:r>
            <a:r>
              <a:rPr lang="it-IT" dirty="0" err="1"/>
              <a:t>disomogeneous</a:t>
            </a:r>
            <a:r>
              <a:rPr lang="it-IT" dirty="0"/>
              <a:t> </a:t>
            </a:r>
            <a:r>
              <a:rPr lang="it-IT" dirty="0" err="1"/>
              <a:t>effects</a:t>
            </a:r>
            <a:r>
              <a:rPr lang="it-IT" dirty="0"/>
              <a:t> of </a:t>
            </a:r>
            <a:r>
              <a:rPr lang="it-IT" dirty="0" err="1"/>
              <a:t>fire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 err="1"/>
              <a:t>While</a:t>
            </a:r>
            <a:r>
              <a:rPr lang="it-IT" dirty="0"/>
              <a:t> </a:t>
            </a:r>
            <a:r>
              <a:rPr lang="it-IT" dirty="0" err="1"/>
              <a:t>pre-fire</a:t>
            </a:r>
            <a:r>
              <a:rPr lang="it-IT" dirty="0"/>
              <a:t> NDVI </a:t>
            </a:r>
            <a:r>
              <a:rPr lang="it-IT" dirty="0" err="1"/>
              <a:t>values</a:t>
            </a:r>
            <a:r>
              <a:rPr lang="it-IT" dirty="0"/>
              <a:t> </a:t>
            </a:r>
            <a:r>
              <a:rPr lang="it-IT" dirty="0" err="1"/>
              <a:t>appear</a:t>
            </a:r>
            <a:r>
              <a:rPr lang="it-IT" dirty="0"/>
              <a:t> </a:t>
            </a:r>
            <a:r>
              <a:rPr lang="it-IT" dirty="0" err="1"/>
              <a:t>relatively</a:t>
            </a:r>
            <a:r>
              <a:rPr lang="it-IT" dirty="0"/>
              <a:t> high and </a:t>
            </a:r>
            <a:r>
              <a:rPr lang="it-IT" dirty="0" err="1"/>
              <a:t>spatially</a:t>
            </a:r>
            <a:r>
              <a:rPr lang="it-IT" dirty="0"/>
              <a:t> </a:t>
            </a:r>
            <a:r>
              <a:rPr lang="it-IT" dirty="0" err="1"/>
              <a:t>continuous</a:t>
            </a:r>
            <a:r>
              <a:rPr lang="it-IT" dirty="0"/>
              <a:t>, post-</a:t>
            </a:r>
            <a:r>
              <a:rPr lang="it-IT" dirty="0" err="1"/>
              <a:t>fire</a:t>
            </a:r>
            <a:r>
              <a:rPr lang="it-IT" dirty="0"/>
              <a:t> </a:t>
            </a:r>
            <a:r>
              <a:rPr lang="it-IT" dirty="0" err="1"/>
              <a:t>conditions</a:t>
            </a:r>
            <a:r>
              <a:rPr lang="it-IT" dirty="0"/>
              <a:t> are </a:t>
            </a:r>
            <a:r>
              <a:rPr lang="it-IT" dirty="0" err="1"/>
              <a:t>characterized</a:t>
            </a:r>
            <a:r>
              <a:rPr lang="it-IT" dirty="0"/>
              <a:t> by </a:t>
            </a:r>
            <a:r>
              <a:rPr lang="it-IT" dirty="0" err="1"/>
              <a:t>reduced</a:t>
            </a:r>
            <a:r>
              <a:rPr lang="it-IT" dirty="0"/>
              <a:t> NDVI and a </a:t>
            </a:r>
            <a:r>
              <a:rPr lang="it-IT" dirty="0" err="1"/>
              <a:t>fragmented</a:t>
            </a:r>
            <a:r>
              <a:rPr lang="it-IT" dirty="0"/>
              <a:t> </a:t>
            </a:r>
            <a:r>
              <a:rPr lang="it-IT" dirty="0" err="1"/>
              <a:t>spatial</a:t>
            </a:r>
            <a:r>
              <a:rPr lang="it-IT" dirty="0"/>
              <a:t> pattern, </a:t>
            </a:r>
            <a:r>
              <a:rPr lang="it-IT" dirty="0" err="1"/>
              <a:t>reflecting</a:t>
            </a:r>
            <a:r>
              <a:rPr lang="it-IT" dirty="0"/>
              <a:t> </a:t>
            </a:r>
            <a:r>
              <a:rPr lang="it-IT" dirty="0" err="1"/>
              <a:t>heterogeneous</a:t>
            </a:r>
            <a:r>
              <a:rPr lang="it-IT" dirty="0"/>
              <a:t> </a:t>
            </a:r>
            <a:r>
              <a:rPr lang="it-IT" dirty="0" err="1"/>
              <a:t>vegetation</a:t>
            </a:r>
            <a:r>
              <a:rPr lang="it-IT" dirty="0"/>
              <a:t> </a:t>
            </a:r>
            <a:r>
              <a:rPr lang="it-IT" dirty="0" err="1"/>
              <a:t>damage</a:t>
            </a:r>
            <a:r>
              <a:rPr lang="it-IT" dirty="0"/>
              <a:t> and </a:t>
            </a:r>
            <a:r>
              <a:rPr lang="it-IT" dirty="0" err="1"/>
              <a:t>early</a:t>
            </a:r>
            <a:r>
              <a:rPr lang="it-IT" dirty="0"/>
              <a:t> recovery </a:t>
            </a:r>
            <a:r>
              <a:rPr lang="it-IT" dirty="0" err="1"/>
              <a:t>processes</a:t>
            </a:r>
            <a:r>
              <a:rPr lang="it-IT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858233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C536C29-3C39-9971-3749-A65BA0B10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it-IT" b="1" dirty="0" err="1"/>
              <a:t>Landscape</a:t>
            </a:r>
            <a:r>
              <a:rPr lang="it-IT" b="1" dirty="0"/>
              <a:t> </a:t>
            </a:r>
            <a:r>
              <a:rPr lang="it-IT" b="1" dirty="0" err="1"/>
              <a:t>Structure</a:t>
            </a:r>
            <a:endParaRPr lang="it-IT" b="1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84B4EF6-A854-F9D5-CC6D-9FE71CC894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160742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FFF5168-08B0-5C19-E99A-C1D56B472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Data </a:t>
            </a:r>
            <a:r>
              <a:rPr lang="it-IT" b="1" dirty="0" err="1"/>
              <a:t>Compression</a:t>
            </a:r>
            <a:r>
              <a:rPr lang="it-IT" b="1" dirty="0"/>
              <a:t> (PCA)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991FEEB-0F2A-0A5D-E916-8F5B7DEEC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it-IT" sz="2000" b="1" dirty="0"/>
              <a:t>Data </a:t>
            </a:r>
            <a:r>
              <a:rPr lang="it-IT" sz="2000" b="1" dirty="0" err="1"/>
              <a:t>Reduction</a:t>
            </a:r>
            <a:r>
              <a:rPr lang="it-IT" sz="2000" b="1" dirty="0"/>
              <a:t>:</a:t>
            </a:r>
            <a:r>
              <a:rPr lang="it-IT" sz="2000" dirty="0"/>
              <a:t> Sentinel-2 </a:t>
            </a:r>
            <a:r>
              <a:rPr lang="it-IT" sz="2000" dirty="0" err="1"/>
              <a:t>provides</a:t>
            </a:r>
            <a:r>
              <a:rPr lang="it-IT" sz="2000" dirty="0"/>
              <a:t> multiple </a:t>
            </a:r>
            <a:r>
              <a:rPr lang="it-IT" sz="2000" dirty="0" err="1"/>
              <a:t>spectral</a:t>
            </a:r>
            <a:r>
              <a:rPr lang="it-IT" sz="2000" dirty="0"/>
              <a:t> </a:t>
            </a:r>
            <a:r>
              <a:rPr lang="it-IT" sz="2000" dirty="0" err="1"/>
              <a:t>bands</a:t>
            </a:r>
            <a:r>
              <a:rPr lang="it-IT" sz="2000" dirty="0"/>
              <a:t> (Red, Green, Blue, NIR) </a:t>
            </a:r>
            <a:r>
              <a:rPr lang="it-IT" sz="2000" dirty="0" err="1"/>
              <a:t>that</a:t>
            </a:r>
            <a:r>
              <a:rPr lang="it-IT" sz="2000" dirty="0"/>
              <a:t> are </a:t>
            </a:r>
            <a:r>
              <a:rPr lang="it-IT" sz="2000" dirty="0" err="1"/>
              <a:t>often</a:t>
            </a:r>
            <a:r>
              <a:rPr lang="it-IT" sz="2000" dirty="0"/>
              <a:t> </a:t>
            </a:r>
            <a:r>
              <a:rPr lang="it-IT" sz="2000" dirty="0" err="1"/>
              <a:t>highly</a:t>
            </a:r>
            <a:r>
              <a:rPr lang="it-IT" sz="2000" dirty="0"/>
              <a:t> </a:t>
            </a:r>
            <a:r>
              <a:rPr lang="it-IT" sz="2000" dirty="0" err="1"/>
              <a:t>correlated</a:t>
            </a:r>
            <a:r>
              <a:rPr lang="it-IT" sz="2000" dirty="0"/>
              <a:t> and </a:t>
            </a:r>
            <a:r>
              <a:rPr lang="it-IT" sz="2000" dirty="0" err="1"/>
              <a:t>redundant</a:t>
            </a:r>
            <a:r>
              <a:rPr lang="it-IT" sz="2000" dirty="0"/>
              <a:t>.</a:t>
            </a:r>
          </a:p>
          <a:p>
            <a:pPr>
              <a:buFontTx/>
              <a:buChar char="-"/>
            </a:pPr>
            <a:endParaRPr lang="it-IT" sz="2000" dirty="0"/>
          </a:p>
          <a:p>
            <a:pPr>
              <a:buFontTx/>
              <a:buChar char="-"/>
            </a:pPr>
            <a:r>
              <a:rPr lang="it-IT" sz="2000" b="1" dirty="0"/>
              <a:t>Information </a:t>
            </a:r>
            <a:r>
              <a:rPr lang="it-IT" sz="2000" b="1" dirty="0" err="1"/>
              <a:t>Concentration</a:t>
            </a:r>
            <a:r>
              <a:rPr lang="it-IT" sz="2000" b="1" dirty="0"/>
              <a:t>:</a:t>
            </a:r>
            <a:r>
              <a:rPr lang="it-IT" sz="2000" dirty="0"/>
              <a:t> PCA </a:t>
            </a:r>
            <a:r>
              <a:rPr lang="it-IT" sz="2000" dirty="0" err="1"/>
              <a:t>transforms</a:t>
            </a:r>
            <a:r>
              <a:rPr lang="it-IT" sz="2000" dirty="0"/>
              <a:t> </a:t>
            </a:r>
            <a:r>
              <a:rPr lang="it-IT" sz="2000" dirty="0" err="1"/>
              <a:t>these</a:t>
            </a:r>
            <a:r>
              <a:rPr lang="it-IT" sz="2000" dirty="0"/>
              <a:t> </a:t>
            </a:r>
            <a:r>
              <a:rPr lang="it-IT" sz="2000" dirty="0" err="1"/>
              <a:t>bands</a:t>
            </a:r>
            <a:r>
              <a:rPr lang="it-IT" sz="2000" dirty="0"/>
              <a:t> </a:t>
            </a:r>
            <a:r>
              <a:rPr lang="it-IT" sz="2000" dirty="0" err="1"/>
              <a:t>into</a:t>
            </a:r>
            <a:r>
              <a:rPr lang="it-IT" sz="2000" dirty="0"/>
              <a:t> new, </a:t>
            </a:r>
            <a:r>
              <a:rPr lang="it-IT" sz="2000" dirty="0" err="1"/>
              <a:t>uncorrelated</a:t>
            </a:r>
            <a:r>
              <a:rPr lang="it-IT" sz="2000" dirty="0"/>
              <a:t> </a:t>
            </a:r>
            <a:r>
              <a:rPr lang="it-IT" sz="2000" dirty="0" err="1"/>
              <a:t>variables</a:t>
            </a:r>
            <a:r>
              <a:rPr lang="it-IT" sz="2000" dirty="0"/>
              <a:t> </a:t>
            </a:r>
            <a:r>
              <a:rPr lang="it-IT" sz="2000" dirty="0" err="1"/>
              <a:t>called</a:t>
            </a:r>
            <a:r>
              <a:rPr lang="it-IT" sz="2000" dirty="0"/>
              <a:t> </a:t>
            </a:r>
            <a:r>
              <a:rPr lang="it-IT" sz="2000" dirty="0" err="1"/>
              <a:t>Principal</a:t>
            </a:r>
            <a:r>
              <a:rPr lang="it-IT" sz="2000" dirty="0"/>
              <a:t> Components.</a:t>
            </a:r>
          </a:p>
          <a:p>
            <a:pPr>
              <a:buFontTx/>
              <a:buChar char="-"/>
            </a:pPr>
            <a:endParaRPr lang="it-IT" sz="2000" dirty="0"/>
          </a:p>
          <a:p>
            <a:pPr>
              <a:buFontTx/>
              <a:buChar char="-"/>
            </a:pPr>
            <a:r>
              <a:rPr lang="it-IT" sz="2000" b="1" dirty="0" err="1"/>
              <a:t>Variance</a:t>
            </a:r>
            <a:r>
              <a:rPr lang="it-IT" sz="2000" b="1" dirty="0"/>
              <a:t> </a:t>
            </a:r>
            <a:r>
              <a:rPr lang="it-IT" sz="2000" b="1" dirty="0" err="1"/>
              <a:t>captured</a:t>
            </a:r>
            <a:r>
              <a:rPr lang="it-IT" sz="2000" b="1" dirty="0"/>
              <a:t>:</a:t>
            </a:r>
            <a:r>
              <a:rPr lang="it-IT" sz="2000" dirty="0"/>
              <a:t> In </a:t>
            </a:r>
            <a:r>
              <a:rPr lang="it-IT" sz="2000" dirty="0" err="1"/>
              <a:t>this</a:t>
            </a:r>
            <a:r>
              <a:rPr lang="it-IT" sz="2000" dirty="0"/>
              <a:t> study, the first </a:t>
            </a:r>
            <a:r>
              <a:rPr lang="it-IT" sz="2000" dirty="0" err="1"/>
              <a:t>two</a:t>
            </a:r>
            <a:r>
              <a:rPr lang="it-IT" sz="2000" dirty="0"/>
              <a:t> </a:t>
            </a:r>
            <a:r>
              <a:rPr lang="it-IT" sz="2000" dirty="0" err="1"/>
              <a:t>components</a:t>
            </a:r>
            <a:r>
              <a:rPr lang="it-IT" sz="2000" dirty="0"/>
              <a:t> (PC1 and PC2) </a:t>
            </a:r>
            <a:r>
              <a:rPr lang="it-IT" sz="2000" dirty="0" err="1"/>
              <a:t>explain</a:t>
            </a:r>
            <a:r>
              <a:rPr lang="it-IT" sz="2000" dirty="0"/>
              <a:t> </a:t>
            </a:r>
            <a:r>
              <a:rPr lang="it-IT" sz="2000" b="1" dirty="0"/>
              <a:t>~76.59% </a:t>
            </a:r>
            <a:r>
              <a:rPr lang="it-IT" sz="2000" dirty="0">
                <a:solidFill>
                  <a:srgbClr val="0070C0"/>
                </a:solidFill>
              </a:rPr>
              <a:t>(2019) </a:t>
            </a:r>
            <a:r>
              <a:rPr lang="it-IT" sz="2000" dirty="0"/>
              <a:t>and </a:t>
            </a:r>
            <a:r>
              <a:rPr lang="it-IT" sz="2000" b="1" dirty="0"/>
              <a:t>~70.15% </a:t>
            </a:r>
            <a:r>
              <a:rPr lang="it-IT" sz="2000" dirty="0">
                <a:solidFill>
                  <a:srgbClr val="FF0000"/>
                </a:solidFill>
              </a:rPr>
              <a:t>(2020) </a:t>
            </a:r>
            <a:r>
              <a:rPr lang="it-IT" sz="2000" dirty="0"/>
              <a:t>of the </a:t>
            </a:r>
            <a:r>
              <a:rPr lang="it-IT" sz="2000" dirty="0" err="1"/>
              <a:t>total</a:t>
            </a:r>
            <a:r>
              <a:rPr lang="it-IT" sz="2000" dirty="0"/>
              <a:t> </a:t>
            </a:r>
            <a:r>
              <a:rPr lang="it-IT" sz="2000" dirty="0" err="1"/>
              <a:t>landscape</a:t>
            </a:r>
            <a:r>
              <a:rPr lang="it-IT" sz="2000" dirty="0"/>
              <a:t> </a:t>
            </a:r>
            <a:r>
              <a:rPr lang="it-IT" sz="2000" dirty="0" err="1"/>
              <a:t>variability</a:t>
            </a:r>
            <a:r>
              <a:rPr lang="it-IT" sz="2000" dirty="0"/>
              <a:t>.</a:t>
            </a:r>
          </a:p>
          <a:p>
            <a:pPr>
              <a:buFontTx/>
              <a:buChar char="-"/>
            </a:pPr>
            <a:endParaRPr lang="it-IT" sz="2000" dirty="0"/>
          </a:p>
          <a:p>
            <a:pPr>
              <a:buFontTx/>
              <a:buChar char="-"/>
            </a:pPr>
            <a:r>
              <a:rPr lang="it-IT" sz="2000" b="1" dirty="0" err="1"/>
              <a:t>Objective</a:t>
            </a:r>
            <a:r>
              <a:rPr lang="it-IT" sz="2000" b="1" dirty="0"/>
              <a:t>:</a:t>
            </a:r>
            <a:r>
              <a:rPr lang="it-IT" sz="2000" dirty="0"/>
              <a:t> </a:t>
            </a:r>
            <a:r>
              <a:rPr lang="it-IT" sz="2000" dirty="0" err="1"/>
              <a:t>Isolating</a:t>
            </a:r>
            <a:r>
              <a:rPr lang="it-IT" sz="2000" dirty="0"/>
              <a:t> the </a:t>
            </a:r>
            <a:r>
              <a:rPr lang="it-IT" sz="2000" dirty="0" err="1"/>
              <a:t>most</a:t>
            </a:r>
            <a:r>
              <a:rPr lang="it-IT" sz="2000" dirty="0"/>
              <a:t> </a:t>
            </a:r>
            <a:r>
              <a:rPr lang="it-IT" sz="2000" dirty="0" err="1"/>
              <a:t>important</a:t>
            </a:r>
            <a:r>
              <a:rPr lang="it-IT" sz="2000" dirty="0"/>
              <a:t> </a:t>
            </a:r>
            <a:r>
              <a:rPr lang="it-IT" sz="2000" dirty="0" err="1"/>
              <a:t>ecological</a:t>
            </a:r>
            <a:r>
              <a:rPr lang="it-IT" sz="2000" dirty="0"/>
              <a:t> </a:t>
            </a:r>
            <a:r>
              <a:rPr lang="it-IT" sz="2000" dirty="0" err="1"/>
              <a:t>signals</a:t>
            </a:r>
            <a:r>
              <a:rPr lang="it-IT" sz="2000" dirty="0"/>
              <a:t> to </a:t>
            </a:r>
            <a:r>
              <a:rPr lang="it-IT" sz="2000" dirty="0" err="1"/>
              <a:t>calculate</a:t>
            </a:r>
            <a:r>
              <a:rPr lang="it-IT" sz="2000" dirty="0"/>
              <a:t> </a:t>
            </a:r>
            <a:r>
              <a:rPr lang="it-IT" sz="2000" dirty="0" err="1"/>
              <a:t>spatial</a:t>
            </a:r>
            <a:r>
              <a:rPr lang="it-IT" sz="2000" dirty="0"/>
              <a:t> </a:t>
            </a:r>
            <a:r>
              <a:rPr lang="it-IT" sz="2000" dirty="0" err="1"/>
              <a:t>heterogeneity</a:t>
            </a:r>
            <a:r>
              <a:rPr lang="it-IT" sz="2000" dirty="0"/>
              <a:t> </a:t>
            </a:r>
            <a:r>
              <a:rPr lang="it-IT" sz="2000" dirty="0" err="1"/>
              <a:t>without</a:t>
            </a:r>
            <a:r>
              <a:rPr lang="it-IT" sz="2000" dirty="0"/>
              <a:t> the "</a:t>
            </a:r>
            <a:r>
              <a:rPr lang="it-IT" sz="2000" dirty="0" err="1"/>
              <a:t>noise</a:t>
            </a:r>
            <a:r>
              <a:rPr lang="it-IT" sz="2000" dirty="0"/>
              <a:t>" of </a:t>
            </a:r>
            <a:r>
              <a:rPr lang="it-IT" sz="2000" dirty="0" err="1"/>
              <a:t>redundant</a:t>
            </a:r>
            <a:r>
              <a:rPr lang="it-IT" sz="2000" dirty="0"/>
              <a:t> data.</a:t>
            </a:r>
          </a:p>
          <a:p>
            <a:pPr>
              <a:buFontTx/>
              <a:buChar char="-"/>
            </a:pPr>
            <a:endParaRPr lang="it-IT" sz="2000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864178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1782CD-C296-F28E-14C1-0AAA916EA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 err="1"/>
              <a:t>Landscape</a:t>
            </a:r>
            <a:r>
              <a:rPr lang="it-IT" b="1" dirty="0"/>
              <a:t> </a:t>
            </a:r>
            <a:r>
              <a:rPr lang="it-IT" b="1" dirty="0" err="1"/>
              <a:t>Heterogeneity</a:t>
            </a:r>
            <a:r>
              <a:rPr lang="it-IT" b="1" dirty="0"/>
              <a:t> (SD)</a:t>
            </a:r>
          </a:p>
        </p:txBody>
      </p:sp>
      <p:pic>
        <p:nvPicPr>
          <p:cNvPr id="5" name="Segnaposto contenuto 4" descr="Immagine che contiene testo, schermata, Policromia&#10;&#10;Descrizione generata automaticamente">
            <a:extLst>
              <a:ext uri="{FF2B5EF4-FFF2-40B4-BE49-F238E27FC236}">
                <a16:creationId xmlns:a16="http://schemas.microsoft.com/office/drawing/2014/main" id="{8C3C11B1-C99A-5854-1DCC-37EF64E42C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56487"/>
            <a:ext cx="4546600" cy="5201513"/>
          </a:xfr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4AFFDBC7-DADA-C486-D9CE-A58C2EFCFA9A}"/>
              </a:ext>
            </a:extLst>
          </p:cNvPr>
          <p:cNvSpPr txBox="1"/>
          <p:nvPr/>
        </p:nvSpPr>
        <p:spPr>
          <a:xfrm>
            <a:off x="5384800" y="1593652"/>
            <a:ext cx="6286500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>
                <a:solidFill>
                  <a:srgbClr val="0070C0"/>
                </a:solidFill>
              </a:rPr>
              <a:t>2019</a:t>
            </a:r>
            <a:r>
              <a:rPr lang="it-IT" sz="2000" dirty="0"/>
              <a:t>: SD </a:t>
            </a:r>
            <a:r>
              <a:rPr lang="it-IT" sz="2000" dirty="0" err="1"/>
              <a:t>values</a:t>
            </a:r>
            <a:r>
              <a:rPr lang="it-IT" sz="2000" dirty="0"/>
              <a:t> </a:t>
            </a:r>
            <a:r>
              <a:rPr lang="it-IT" sz="2000" dirty="0" err="1"/>
              <a:t>generally</a:t>
            </a:r>
            <a:r>
              <a:rPr lang="it-IT" sz="2000" dirty="0"/>
              <a:t> low and </a:t>
            </a:r>
            <a:r>
              <a:rPr lang="it-IT" sz="2000" dirty="0" err="1"/>
              <a:t>spatially</a:t>
            </a:r>
            <a:r>
              <a:rPr lang="it-IT" sz="2000" dirty="0"/>
              <a:t> </a:t>
            </a:r>
            <a:r>
              <a:rPr lang="it-IT" sz="2000" dirty="0" err="1"/>
              <a:t>coherent</a:t>
            </a:r>
            <a:r>
              <a:rPr lang="it-IT" sz="2000" dirty="0"/>
              <a:t>, relative </a:t>
            </a:r>
            <a:r>
              <a:rPr lang="it-IT" sz="2000" dirty="0" err="1"/>
              <a:t>homogeneous</a:t>
            </a:r>
            <a:r>
              <a:rPr lang="it-IT" sz="2000" dirty="0"/>
              <a:t> </a:t>
            </a:r>
            <a:r>
              <a:rPr lang="it-IT" sz="2000" dirty="0" err="1"/>
              <a:t>landscape</a:t>
            </a:r>
            <a:r>
              <a:rPr lang="it-IT" sz="2000" dirty="0"/>
              <a:t>. </a:t>
            </a:r>
            <a:r>
              <a:rPr lang="it-IT" sz="2000" dirty="0" err="1"/>
              <a:t>Main</a:t>
            </a:r>
            <a:r>
              <a:rPr lang="it-IT" sz="2000" dirty="0"/>
              <a:t> </a:t>
            </a:r>
            <a:r>
              <a:rPr lang="it-IT" sz="2000" dirty="0" err="1"/>
              <a:t>geomorphological</a:t>
            </a:r>
            <a:r>
              <a:rPr lang="it-IT" sz="2000" dirty="0"/>
              <a:t> </a:t>
            </a:r>
            <a:r>
              <a:rPr lang="it-IT" sz="2000" dirty="0" err="1"/>
              <a:t>structures</a:t>
            </a:r>
            <a:r>
              <a:rPr lang="it-IT" sz="2000" dirty="0"/>
              <a:t> are </a:t>
            </a:r>
            <a:r>
              <a:rPr lang="it-IT" sz="2000" dirty="0" err="1"/>
              <a:t>recognizible</a:t>
            </a:r>
            <a:r>
              <a:rPr lang="it-IT" sz="2000" dirty="0"/>
              <a:t> </a:t>
            </a:r>
            <a:r>
              <a:rPr lang="it-IT" sz="2000" dirty="0" err="1"/>
              <a:t>but</a:t>
            </a:r>
            <a:r>
              <a:rPr lang="it-IT" sz="2000" dirty="0"/>
              <a:t> </a:t>
            </a:r>
            <a:r>
              <a:rPr lang="it-IT" sz="2000" dirty="0" err="1"/>
              <a:t>not</a:t>
            </a:r>
            <a:r>
              <a:rPr lang="it-IT" sz="2000" dirty="0"/>
              <a:t> </a:t>
            </a:r>
            <a:r>
              <a:rPr lang="it-IT" sz="2000" dirty="0" err="1"/>
              <a:t>too</a:t>
            </a:r>
            <a:r>
              <a:rPr lang="it-IT" sz="2000" dirty="0"/>
              <a:t> </a:t>
            </a:r>
            <a:r>
              <a:rPr lang="it-IT" sz="2000" dirty="0" err="1"/>
              <a:t>spatially</a:t>
            </a:r>
            <a:r>
              <a:rPr lang="it-IT" sz="2000" dirty="0"/>
              <a:t> </a:t>
            </a:r>
            <a:r>
              <a:rPr lang="it-IT" sz="2000" dirty="0" err="1"/>
              <a:t>discontiuous</a:t>
            </a:r>
            <a:r>
              <a:rPr lang="it-IT" sz="2000" dirty="0"/>
              <a:t>.</a:t>
            </a:r>
          </a:p>
          <a:p>
            <a:r>
              <a:rPr lang="it-IT" sz="2000" dirty="0">
                <a:solidFill>
                  <a:srgbClr val="FF0000"/>
                </a:solidFill>
              </a:rPr>
              <a:t>2020</a:t>
            </a:r>
            <a:r>
              <a:rPr lang="it-IT" sz="2000" dirty="0"/>
              <a:t>: </a:t>
            </a:r>
            <a:r>
              <a:rPr lang="it-IT" sz="2000" dirty="0" err="1"/>
              <a:t>While</a:t>
            </a:r>
            <a:r>
              <a:rPr lang="it-IT" sz="2000" dirty="0"/>
              <a:t> </a:t>
            </a:r>
            <a:r>
              <a:rPr lang="it-IT" sz="2000" dirty="0" err="1"/>
              <a:t>maintaining</a:t>
            </a:r>
            <a:r>
              <a:rPr lang="it-IT" sz="2000" dirty="0"/>
              <a:t> a </a:t>
            </a:r>
            <a:r>
              <a:rPr lang="it-IT" sz="2000" dirty="0" err="1"/>
              <a:t>similar</a:t>
            </a:r>
            <a:r>
              <a:rPr lang="it-IT" sz="2000" dirty="0"/>
              <a:t> global </a:t>
            </a:r>
            <a:r>
              <a:rPr lang="it-IT" sz="2000" dirty="0" err="1"/>
              <a:t>distribution</a:t>
            </a:r>
            <a:r>
              <a:rPr lang="it-IT" sz="2000" dirty="0"/>
              <a:t>, low </a:t>
            </a:r>
            <a:r>
              <a:rPr lang="it-IT" sz="2000" dirty="0" err="1"/>
              <a:t>increment</a:t>
            </a:r>
            <a:r>
              <a:rPr lang="it-IT" sz="2000" dirty="0"/>
              <a:t> of </a:t>
            </a:r>
            <a:r>
              <a:rPr lang="it-IT" sz="2000" dirty="0" err="1"/>
              <a:t>variability</a:t>
            </a:r>
            <a:r>
              <a:rPr lang="it-IT" sz="2000" dirty="0"/>
              <a:t>, with a </a:t>
            </a:r>
            <a:r>
              <a:rPr lang="it-IT" sz="2000" dirty="0" err="1"/>
              <a:t>stronger</a:t>
            </a:r>
            <a:r>
              <a:rPr lang="it-IT" sz="2000" dirty="0"/>
              <a:t> </a:t>
            </a:r>
            <a:r>
              <a:rPr lang="it-IT" sz="2000" dirty="0" err="1"/>
              <a:t>presence</a:t>
            </a:r>
            <a:r>
              <a:rPr lang="it-IT" sz="2000" dirty="0"/>
              <a:t> of high SD pixels (</a:t>
            </a:r>
            <a:r>
              <a:rPr lang="it-IT" sz="2000" dirty="0" err="1"/>
              <a:t>yellow</a:t>
            </a:r>
            <a:r>
              <a:rPr lang="it-IT" sz="2000" dirty="0"/>
              <a:t>) and a more </a:t>
            </a:r>
            <a:r>
              <a:rPr lang="it-IT" sz="2000" dirty="0" err="1"/>
              <a:t>fragmented</a:t>
            </a:r>
            <a:r>
              <a:rPr lang="it-IT" sz="2000" dirty="0"/>
              <a:t> </a:t>
            </a:r>
            <a:r>
              <a:rPr lang="it-IT" sz="2000" dirty="0" err="1"/>
              <a:t>distribution</a:t>
            </a:r>
            <a:r>
              <a:rPr lang="it-IT" sz="2000" dirty="0"/>
              <a:t>. Outputs </a:t>
            </a:r>
            <a:r>
              <a:rPr lang="it-IT" sz="2000" dirty="0" err="1"/>
              <a:t>consistent</a:t>
            </a:r>
            <a:r>
              <a:rPr lang="it-IT" sz="2000" dirty="0"/>
              <a:t> with an </a:t>
            </a:r>
            <a:r>
              <a:rPr lang="it-IT" sz="2000" dirty="0" err="1"/>
              <a:t>heterogenous</a:t>
            </a:r>
            <a:r>
              <a:rPr lang="it-IT" sz="2000" dirty="0"/>
              <a:t> stress event like </a:t>
            </a:r>
            <a:r>
              <a:rPr lang="it-IT" sz="2000" dirty="0" err="1"/>
              <a:t>fire</a:t>
            </a:r>
            <a:r>
              <a:rPr lang="it-IT" sz="2000" dirty="0"/>
              <a:t>. The </a:t>
            </a:r>
            <a:r>
              <a:rPr lang="it-IT" sz="2000" dirty="0" err="1"/>
              <a:t>fire</a:t>
            </a:r>
            <a:r>
              <a:rPr lang="it-IT" sz="2000" dirty="0"/>
              <a:t> </a:t>
            </a:r>
            <a:r>
              <a:rPr lang="it-IT" sz="2000" dirty="0" err="1"/>
              <a:t>acted</a:t>
            </a:r>
            <a:r>
              <a:rPr lang="it-IT" sz="2000" dirty="0"/>
              <a:t> </a:t>
            </a:r>
            <a:r>
              <a:rPr lang="it-IT" sz="2000" dirty="0" err="1"/>
              <a:t>as</a:t>
            </a:r>
            <a:r>
              <a:rPr lang="it-IT" sz="2000" dirty="0"/>
              <a:t> a "</a:t>
            </a:r>
            <a:r>
              <a:rPr lang="it-IT" sz="2000" dirty="0" err="1"/>
              <a:t>disturbing</a:t>
            </a:r>
            <a:r>
              <a:rPr lang="it-IT" sz="2000" dirty="0"/>
              <a:t> agent" </a:t>
            </a:r>
            <a:r>
              <a:rPr lang="it-IT" sz="2000" dirty="0" err="1"/>
              <a:t>thet</a:t>
            </a:r>
            <a:r>
              <a:rPr lang="it-IT" sz="2000" dirty="0"/>
              <a:t> </a:t>
            </a:r>
            <a:r>
              <a:rPr lang="it-IT" sz="2000" dirty="0" err="1"/>
              <a:t>broke</a:t>
            </a:r>
            <a:r>
              <a:rPr lang="it-IT" sz="2000" dirty="0"/>
              <a:t> the </a:t>
            </a:r>
            <a:r>
              <a:rPr lang="it-IT" sz="2000" dirty="0" err="1"/>
              <a:t>spatial</a:t>
            </a:r>
            <a:r>
              <a:rPr lang="it-IT" sz="2000" dirty="0"/>
              <a:t> </a:t>
            </a:r>
            <a:r>
              <a:rPr lang="it-IT" sz="2000" dirty="0" err="1"/>
              <a:t>continuity</a:t>
            </a:r>
            <a:r>
              <a:rPr lang="it-IT" sz="2000" dirty="0"/>
              <a:t> </a:t>
            </a:r>
            <a:r>
              <a:rPr lang="it-IT" sz="2000" dirty="0" err="1"/>
              <a:t>noticed</a:t>
            </a:r>
            <a:r>
              <a:rPr lang="it-IT" sz="2000" dirty="0"/>
              <a:t> in 2019 and </a:t>
            </a:r>
            <a:r>
              <a:rPr lang="it-IT" sz="2000" dirty="0" err="1"/>
              <a:t>generated</a:t>
            </a:r>
            <a:r>
              <a:rPr lang="it-IT" sz="2000" dirty="0"/>
              <a:t> "disorder".</a:t>
            </a:r>
          </a:p>
          <a:p>
            <a:endParaRPr lang="it-IT" sz="2000" dirty="0"/>
          </a:p>
          <a:p>
            <a:r>
              <a:rPr lang="it-IT" sz="2000" dirty="0" err="1"/>
              <a:t>Differences</a:t>
            </a:r>
            <a:r>
              <a:rPr lang="it-IT" sz="2000" dirty="0"/>
              <a:t> </a:t>
            </a:r>
            <a:r>
              <a:rPr lang="it-IT" sz="2000" dirty="0" err="1"/>
              <a:t>between</a:t>
            </a:r>
            <a:r>
              <a:rPr lang="it-IT" sz="2000" dirty="0"/>
              <a:t> 2019 and 2020 are </a:t>
            </a:r>
            <a:r>
              <a:rPr lang="it-IT" sz="2000" dirty="0" err="1"/>
              <a:t>mainly</a:t>
            </a:r>
            <a:r>
              <a:rPr lang="it-IT" sz="2000" dirty="0"/>
              <a:t> </a:t>
            </a:r>
            <a:r>
              <a:rPr lang="it-IT" sz="2000" dirty="0" err="1"/>
              <a:t>expressed</a:t>
            </a:r>
            <a:r>
              <a:rPr lang="it-IT" sz="2000" dirty="0"/>
              <a:t> in </a:t>
            </a:r>
            <a:r>
              <a:rPr lang="it-IT" sz="2000" dirty="0" err="1"/>
              <a:t>terms</a:t>
            </a:r>
            <a:r>
              <a:rPr lang="it-IT" sz="2000" dirty="0"/>
              <a:t> of fine-scale </a:t>
            </a:r>
            <a:r>
              <a:rPr lang="it-IT" sz="2000" dirty="0" err="1"/>
              <a:t>spatial</a:t>
            </a:r>
            <a:r>
              <a:rPr lang="it-IT" sz="2000" dirty="0"/>
              <a:t> </a:t>
            </a:r>
            <a:r>
              <a:rPr lang="it-IT" sz="2000" dirty="0" err="1"/>
              <a:t>heterogeneity</a:t>
            </a:r>
            <a:r>
              <a:rPr lang="it-IT" sz="2000" dirty="0"/>
              <a:t> and highlight a general </a:t>
            </a:r>
            <a:r>
              <a:rPr lang="it-IT" sz="2000" dirty="0" err="1"/>
              <a:t>increment</a:t>
            </a:r>
            <a:r>
              <a:rPr lang="it-IT" sz="2000" dirty="0"/>
              <a:t> in </a:t>
            </a:r>
            <a:r>
              <a:rPr lang="it-IT" sz="2000" dirty="0" err="1"/>
              <a:t>spatial</a:t>
            </a:r>
            <a:r>
              <a:rPr lang="it-IT" sz="2000" dirty="0"/>
              <a:t> </a:t>
            </a:r>
            <a:r>
              <a:rPr lang="it-IT" sz="2000" dirty="0" err="1"/>
              <a:t>complexity</a:t>
            </a:r>
            <a:r>
              <a:rPr lang="it-IT" sz="2000" dirty="0"/>
              <a:t> in post-</a:t>
            </a:r>
            <a:r>
              <a:rPr lang="it-IT" sz="2000" dirty="0" err="1"/>
              <a:t>fire</a:t>
            </a:r>
            <a:r>
              <a:rPr lang="it-IT" sz="2000" dirty="0"/>
              <a:t> </a:t>
            </a:r>
            <a:r>
              <a:rPr lang="it-IT" sz="2000" dirty="0" err="1"/>
              <a:t>period</a:t>
            </a:r>
            <a:r>
              <a:rPr lang="it-IT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623332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815526B-514E-83BC-443C-FDD844A775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it-IT" sz="4400" b="1" dirty="0" err="1"/>
              <a:t>Quantifying</a:t>
            </a:r>
            <a:r>
              <a:rPr lang="it-IT" sz="4400" b="1" dirty="0"/>
              <a:t> </a:t>
            </a:r>
            <a:r>
              <a:rPr lang="it-IT" sz="4400" b="1" dirty="0" err="1"/>
              <a:t>Change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F17F59D-D051-121C-37DB-6B3B75565E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53948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28FD107-0CC6-005B-E101-82EE46265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z="4400" b="1" dirty="0"/>
              <a:t>Land Cover </a:t>
            </a:r>
            <a:r>
              <a:rPr lang="it-IT" sz="4400" b="1" dirty="0" err="1"/>
              <a:t>Classification</a:t>
            </a:r>
            <a:endParaRPr lang="it-IT" b="1" dirty="0"/>
          </a:p>
        </p:txBody>
      </p:sp>
      <p:pic>
        <p:nvPicPr>
          <p:cNvPr id="5" name="Segnaposto contenuto 4" descr="Immagine che contiene testo, schermata, Carattere, giallo&#10;&#10;Descrizione generata automaticamente">
            <a:extLst>
              <a:ext uri="{FF2B5EF4-FFF2-40B4-BE49-F238E27FC236}">
                <a16:creationId xmlns:a16="http://schemas.microsoft.com/office/drawing/2014/main" id="{FDD286ED-D200-AD4D-E19A-A2FC3855CA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1397000"/>
            <a:ext cx="4775200" cy="5463042"/>
          </a:xfr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CB9ED2AB-813B-7504-6D94-C74C01D3F3A7}"/>
              </a:ext>
            </a:extLst>
          </p:cNvPr>
          <p:cNvSpPr txBox="1"/>
          <p:nvPr/>
        </p:nvSpPr>
        <p:spPr>
          <a:xfrm>
            <a:off x="5613400" y="1633765"/>
            <a:ext cx="63119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it-IT" dirty="0"/>
          </a:p>
          <a:p>
            <a:r>
              <a:rPr lang="it-IT" dirty="0">
                <a:solidFill>
                  <a:srgbClr val="0070C0"/>
                </a:solidFill>
              </a:rPr>
              <a:t>2019</a:t>
            </a:r>
            <a:r>
              <a:rPr lang="it-IT" dirty="0"/>
              <a:t>: large and </a:t>
            </a:r>
            <a:r>
              <a:rPr lang="it-IT" dirty="0" err="1"/>
              <a:t>continuous</a:t>
            </a:r>
            <a:r>
              <a:rPr lang="it-IT" dirty="0"/>
              <a:t> patches of the </a:t>
            </a:r>
            <a:r>
              <a:rPr lang="it-IT" dirty="0" err="1"/>
              <a:t>two</a:t>
            </a:r>
            <a:r>
              <a:rPr lang="it-IT" dirty="0"/>
              <a:t> classes. </a:t>
            </a:r>
            <a:r>
              <a:rPr lang="it-IT" dirty="0" err="1"/>
              <a:t>Reflects</a:t>
            </a:r>
            <a:r>
              <a:rPr lang="it-IT" dirty="0"/>
              <a:t> moderate </a:t>
            </a:r>
            <a:r>
              <a:rPr lang="it-IT" dirty="0" err="1"/>
              <a:t>landscape</a:t>
            </a:r>
            <a:r>
              <a:rPr lang="it-IT" dirty="0"/>
              <a:t> </a:t>
            </a:r>
            <a:r>
              <a:rPr lang="it-IT" dirty="0" err="1"/>
              <a:t>variability</a:t>
            </a:r>
            <a:r>
              <a:rPr lang="it-IT" dirty="0"/>
              <a:t> and a </a:t>
            </a:r>
            <a:r>
              <a:rPr lang="it-IT" dirty="0" err="1"/>
              <a:t>structural</a:t>
            </a:r>
            <a:r>
              <a:rPr lang="it-IT" dirty="0"/>
              <a:t> </a:t>
            </a:r>
            <a:r>
              <a:rPr lang="it-IT" dirty="0" err="1"/>
              <a:t>stable</a:t>
            </a:r>
            <a:r>
              <a:rPr lang="it-IT" dirty="0"/>
              <a:t> </a:t>
            </a:r>
            <a:r>
              <a:rPr lang="it-IT" dirty="0" err="1"/>
              <a:t>environment</a:t>
            </a:r>
            <a:r>
              <a:rPr lang="it-IT" dirty="0"/>
              <a:t>, </a:t>
            </a:r>
            <a:r>
              <a:rPr lang="it-IT" dirty="0" err="1"/>
              <a:t>consistent</a:t>
            </a:r>
            <a:r>
              <a:rPr lang="it-IT" dirty="0"/>
              <a:t> with an </a:t>
            </a:r>
            <a:r>
              <a:rPr lang="it-IT" dirty="0" err="1"/>
              <a:t>healthy</a:t>
            </a:r>
            <a:r>
              <a:rPr lang="it-IT" dirty="0"/>
              <a:t> </a:t>
            </a:r>
            <a:r>
              <a:rPr lang="it-IT" dirty="0" err="1"/>
              <a:t>forest</a:t>
            </a:r>
            <a:r>
              <a:rPr lang="it-IT" dirty="0"/>
              <a:t>.</a:t>
            </a:r>
          </a:p>
          <a:p>
            <a:r>
              <a:rPr lang="it-IT" dirty="0">
                <a:solidFill>
                  <a:srgbClr val="FF0000"/>
                </a:solidFill>
              </a:rPr>
              <a:t>2020</a:t>
            </a:r>
            <a:r>
              <a:rPr lang="it-IT" dirty="0"/>
              <a:t>: </a:t>
            </a:r>
            <a:r>
              <a:rPr lang="it-IT" dirty="0" err="1"/>
              <a:t>increased</a:t>
            </a:r>
            <a:r>
              <a:rPr lang="it-IT" dirty="0"/>
              <a:t> </a:t>
            </a:r>
            <a:r>
              <a:rPr lang="it-IT" dirty="0" err="1"/>
              <a:t>fragmentation</a:t>
            </a:r>
            <a:r>
              <a:rPr lang="it-IT" dirty="0"/>
              <a:t> and a more </a:t>
            </a:r>
            <a:r>
              <a:rPr lang="it-IT" dirty="0" err="1"/>
              <a:t>irregular</a:t>
            </a:r>
            <a:r>
              <a:rPr lang="it-IT" dirty="0"/>
              <a:t> </a:t>
            </a:r>
            <a:r>
              <a:rPr lang="it-IT" dirty="0" err="1"/>
              <a:t>distribution</a:t>
            </a:r>
            <a:r>
              <a:rPr lang="it-IT" dirty="0"/>
              <a:t> of small patches. </a:t>
            </a:r>
          </a:p>
          <a:p>
            <a:endParaRPr lang="it-IT" dirty="0"/>
          </a:p>
          <a:p>
            <a:r>
              <a:rPr lang="it-IT" dirty="0"/>
              <a:t>Due to </a:t>
            </a:r>
            <a:r>
              <a:rPr lang="it-IT" b="1" dirty="0" err="1"/>
              <a:t>unsupervised</a:t>
            </a:r>
            <a:r>
              <a:rPr lang="it-IT" b="1" dirty="0"/>
              <a:t> </a:t>
            </a:r>
            <a:r>
              <a:rPr lang="it-IT" b="1" dirty="0" err="1"/>
              <a:t>classification</a:t>
            </a:r>
            <a:r>
              <a:rPr lang="it-IT" b="1" dirty="0"/>
              <a:t> </a:t>
            </a:r>
            <a:r>
              <a:rPr lang="it-IT" dirty="0" err="1"/>
              <a:t>function</a:t>
            </a:r>
            <a:r>
              <a:rPr lang="it-IT" dirty="0"/>
              <a:t> the </a:t>
            </a:r>
            <a:r>
              <a:rPr lang="it-IT" dirty="0" err="1"/>
              <a:t>numbers</a:t>
            </a:r>
            <a:r>
              <a:rPr lang="it-IT" dirty="0"/>
              <a:t> of the </a:t>
            </a:r>
            <a:r>
              <a:rPr lang="it-IT" dirty="0" err="1"/>
              <a:t>two</a:t>
            </a:r>
            <a:r>
              <a:rPr lang="it-IT" dirty="0"/>
              <a:t> classes are </a:t>
            </a:r>
            <a:r>
              <a:rPr lang="it-IT" dirty="0" err="1"/>
              <a:t>inverted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2019 and 2020. The </a:t>
            </a:r>
            <a:r>
              <a:rPr lang="it-IT" dirty="0" err="1"/>
              <a:t>classification</a:t>
            </a:r>
            <a:r>
              <a:rPr lang="it-IT" dirty="0"/>
              <a:t> </a:t>
            </a:r>
            <a:r>
              <a:rPr lang="it-IT" dirty="0" err="1"/>
              <a:t>results</a:t>
            </a:r>
            <a:r>
              <a:rPr lang="it-IT" dirty="0"/>
              <a:t> indicate a </a:t>
            </a:r>
            <a:r>
              <a:rPr lang="it-IT" dirty="0" err="1"/>
              <a:t>reduction</a:t>
            </a:r>
            <a:r>
              <a:rPr lang="it-IT" dirty="0"/>
              <a:t> of 2.5% in </a:t>
            </a:r>
            <a:r>
              <a:rPr lang="it-IT" dirty="0" err="1"/>
              <a:t>Forest</a:t>
            </a:r>
            <a:r>
              <a:rPr lang="it-IT" dirty="0"/>
              <a:t> class in 2020 after </a:t>
            </a:r>
            <a:r>
              <a:rPr lang="it-IT" dirty="0" err="1"/>
              <a:t>bushfires</a:t>
            </a:r>
            <a:r>
              <a:rPr lang="it-IT" dirty="0"/>
              <a:t>. </a:t>
            </a:r>
            <a:r>
              <a:rPr lang="it-IT" dirty="0" err="1"/>
              <a:t>Although</a:t>
            </a:r>
            <a:r>
              <a:rPr lang="it-IT" dirty="0"/>
              <a:t>, </a:t>
            </a:r>
            <a:r>
              <a:rPr lang="it-IT" dirty="0" err="1"/>
              <a:t>because</a:t>
            </a:r>
            <a:r>
              <a:rPr lang="it-IT" dirty="0"/>
              <a:t> the </a:t>
            </a:r>
            <a:r>
              <a:rPr lang="it-IT" dirty="0" err="1"/>
              <a:t>classification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unsupervised</a:t>
            </a:r>
            <a:r>
              <a:rPr lang="it-IT" dirty="0"/>
              <a:t>, class </a:t>
            </a:r>
            <a:r>
              <a:rPr lang="it-IT" dirty="0" err="1"/>
              <a:t>proportions</a:t>
            </a:r>
            <a:r>
              <a:rPr lang="it-IT" dirty="0"/>
              <a:t> </a:t>
            </a:r>
            <a:r>
              <a:rPr lang="it-IT" dirty="0" err="1"/>
              <a:t>represent</a:t>
            </a:r>
            <a:r>
              <a:rPr lang="it-IT" dirty="0"/>
              <a:t> </a:t>
            </a:r>
            <a:r>
              <a:rPr lang="it-IT" dirty="0" err="1"/>
              <a:t>changes</a:t>
            </a:r>
            <a:r>
              <a:rPr lang="it-IT" dirty="0"/>
              <a:t> in </a:t>
            </a:r>
            <a:r>
              <a:rPr lang="it-IT" dirty="0" err="1"/>
              <a:t>spatial</a:t>
            </a:r>
            <a:r>
              <a:rPr lang="it-IT" dirty="0"/>
              <a:t> </a:t>
            </a:r>
            <a:r>
              <a:rPr lang="it-IT" dirty="0" err="1"/>
              <a:t>configuration</a:t>
            </a:r>
            <a:r>
              <a:rPr lang="it-IT" dirty="0"/>
              <a:t> and </a:t>
            </a:r>
            <a:r>
              <a:rPr lang="it-IT" dirty="0" err="1"/>
              <a:t>spectral</a:t>
            </a:r>
            <a:r>
              <a:rPr lang="it-IT" dirty="0"/>
              <a:t> </a:t>
            </a:r>
            <a:r>
              <a:rPr lang="it-IT" dirty="0" err="1"/>
              <a:t>similarity</a:t>
            </a:r>
            <a:r>
              <a:rPr lang="it-IT" dirty="0"/>
              <a:t> </a:t>
            </a:r>
            <a:r>
              <a:rPr lang="it-IT" dirty="0" err="1"/>
              <a:t>rather</a:t>
            </a:r>
            <a:r>
              <a:rPr lang="it-IT" dirty="0"/>
              <a:t> </a:t>
            </a:r>
            <a:r>
              <a:rPr lang="it-IT" dirty="0" err="1"/>
              <a:t>than</a:t>
            </a:r>
            <a:r>
              <a:rPr lang="it-IT" dirty="0"/>
              <a:t> </a:t>
            </a:r>
            <a:r>
              <a:rPr lang="it-IT" dirty="0" err="1"/>
              <a:t>true</a:t>
            </a:r>
            <a:r>
              <a:rPr lang="it-IT" dirty="0"/>
              <a:t> gain or </a:t>
            </a:r>
            <a:r>
              <a:rPr lang="it-IT" dirty="0" err="1"/>
              <a:t>loss</a:t>
            </a:r>
            <a:r>
              <a:rPr lang="it-IT" dirty="0"/>
              <a:t> in </a:t>
            </a:r>
            <a:r>
              <a:rPr lang="it-IT" dirty="0" err="1"/>
              <a:t>forest</a:t>
            </a:r>
            <a:r>
              <a:rPr lang="it-IT" dirty="0"/>
              <a:t> </a:t>
            </a:r>
            <a:r>
              <a:rPr lang="it-IT" dirty="0" err="1"/>
              <a:t>covered</a:t>
            </a:r>
            <a:r>
              <a:rPr lang="it-IT" dirty="0"/>
              <a:t> area. </a:t>
            </a:r>
            <a:r>
              <a:rPr lang="it-IT" dirty="0" err="1"/>
              <a:t>This</a:t>
            </a:r>
            <a:r>
              <a:rPr lang="it-IT" dirty="0"/>
              <a:t> pattern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consistent</a:t>
            </a:r>
            <a:r>
              <a:rPr lang="it-IT" dirty="0"/>
              <a:t> with the general </a:t>
            </a:r>
            <a:r>
              <a:rPr lang="it-IT" dirty="0" err="1"/>
              <a:t>loss</a:t>
            </a:r>
            <a:r>
              <a:rPr lang="it-IT" dirty="0"/>
              <a:t> of NDVI in 2020 and </a:t>
            </a:r>
            <a:r>
              <a:rPr lang="it-IT" dirty="0" err="1"/>
              <a:t>increased</a:t>
            </a:r>
            <a:r>
              <a:rPr lang="it-IT" dirty="0"/>
              <a:t> </a:t>
            </a:r>
            <a:r>
              <a:rPr lang="it-IT" dirty="0" err="1"/>
              <a:t>landscape</a:t>
            </a:r>
            <a:r>
              <a:rPr lang="it-IT" dirty="0"/>
              <a:t> </a:t>
            </a:r>
            <a:r>
              <a:rPr lang="it-IT" dirty="0" err="1"/>
              <a:t>fragmentation</a:t>
            </a:r>
            <a:r>
              <a:rPr lang="it-IT" dirty="0"/>
              <a:t>.</a:t>
            </a:r>
          </a:p>
          <a:p>
            <a:endParaRPr lang="it-IT" dirty="0"/>
          </a:p>
          <a:p>
            <a:endParaRPr lang="it-IT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C5D9485-AF4A-B841-4EF4-EF549AD22DAF}"/>
              </a:ext>
            </a:extLst>
          </p:cNvPr>
          <p:cNvSpPr txBox="1"/>
          <p:nvPr/>
        </p:nvSpPr>
        <p:spPr>
          <a:xfrm>
            <a:off x="7575550" y="592053"/>
            <a:ext cx="4064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rgbClr val="0070C0"/>
                </a:solidFill>
              </a:rPr>
              <a:t>2019</a:t>
            </a:r>
            <a:r>
              <a:rPr lang="it-IT" dirty="0"/>
              <a:t>: "Forest" coverage -&gt; 31.89005%</a:t>
            </a:r>
          </a:p>
          <a:p>
            <a:r>
              <a:rPr lang="it-IT" dirty="0">
                <a:solidFill>
                  <a:srgbClr val="FF0000"/>
                </a:solidFill>
              </a:rPr>
              <a:t>2020</a:t>
            </a:r>
            <a:r>
              <a:rPr lang="it-IT" dirty="0"/>
              <a:t>: "Forest" coverage -&gt; 29.38597%</a:t>
            </a:r>
          </a:p>
          <a:p>
            <a:r>
              <a:rPr lang="it-IT" dirty="0"/>
              <a:t>Net </a:t>
            </a:r>
            <a:r>
              <a:rPr lang="it-IT" dirty="0" err="1"/>
              <a:t>loss</a:t>
            </a:r>
            <a:r>
              <a:rPr lang="it-IT" dirty="0"/>
              <a:t> = ~2.5% of "</a:t>
            </a:r>
            <a:r>
              <a:rPr lang="it-IT" dirty="0" err="1"/>
              <a:t>Forest</a:t>
            </a:r>
            <a:r>
              <a:rPr lang="it-IT" dirty="0"/>
              <a:t>" coverage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0CF9DC6E-4E2E-05CD-EA37-BDAD791901DB}"/>
              </a:ext>
            </a:extLst>
          </p:cNvPr>
          <p:cNvSpPr txBox="1"/>
          <p:nvPr/>
        </p:nvSpPr>
        <p:spPr>
          <a:xfrm>
            <a:off x="4445001" y="215900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"</a:t>
            </a:r>
            <a:r>
              <a:rPr lang="it-IT" sz="1400" dirty="0" err="1"/>
              <a:t>Forest</a:t>
            </a:r>
            <a:r>
              <a:rPr lang="it-IT" sz="1400" dirty="0"/>
              <a:t>"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A61CC319-1C78-0E50-D76E-56FE50148491}"/>
              </a:ext>
            </a:extLst>
          </p:cNvPr>
          <p:cNvSpPr txBox="1"/>
          <p:nvPr/>
        </p:nvSpPr>
        <p:spPr>
          <a:xfrm>
            <a:off x="4445001" y="468630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"</a:t>
            </a:r>
            <a:r>
              <a:rPr lang="it-IT" sz="1400" dirty="0" err="1"/>
              <a:t>Forest</a:t>
            </a:r>
            <a:r>
              <a:rPr lang="it-IT" sz="1400" dirty="0"/>
              <a:t>"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BEFABD3-C8F9-B502-B8E4-CF5586EB86A9}"/>
              </a:ext>
            </a:extLst>
          </p:cNvPr>
          <p:cNvSpPr txBox="1"/>
          <p:nvPr/>
        </p:nvSpPr>
        <p:spPr>
          <a:xfrm>
            <a:off x="4445001" y="2005111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Others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9C40FA23-0C0D-ABF8-96A7-27444380C24F}"/>
              </a:ext>
            </a:extLst>
          </p:cNvPr>
          <p:cNvSpPr txBox="1"/>
          <p:nvPr/>
        </p:nvSpPr>
        <p:spPr>
          <a:xfrm>
            <a:off x="4445001" y="4889316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Others</a:t>
            </a:r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7D7AAAF4-FC22-53BA-13EC-99FEB2347E16}"/>
              </a:ext>
            </a:extLst>
          </p:cNvPr>
          <p:cNvSpPr/>
          <p:nvPr/>
        </p:nvSpPr>
        <p:spPr>
          <a:xfrm>
            <a:off x="190500" y="2005111"/>
            <a:ext cx="1244600" cy="1601689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653EBFA-1405-A67E-CCB6-CF06F0FAB7A3}"/>
              </a:ext>
            </a:extLst>
          </p:cNvPr>
          <p:cNvSpPr txBox="1"/>
          <p:nvPr/>
        </p:nvSpPr>
        <p:spPr>
          <a:xfrm>
            <a:off x="190500" y="2005111"/>
            <a:ext cx="1333500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/>
              <a:t>"</a:t>
            </a:r>
            <a:r>
              <a:rPr lang="it-IT" sz="1200" b="1" dirty="0" err="1"/>
              <a:t>Forest</a:t>
            </a:r>
            <a:r>
              <a:rPr lang="it-IT" sz="1200" dirty="0"/>
              <a:t> "</a:t>
            </a:r>
            <a:r>
              <a:rPr lang="it-IT" sz="1200" b="1" dirty="0"/>
              <a:t>=</a:t>
            </a:r>
            <a:r>
              <a:rPr lang="it-IT" sz="1200" dirty="0"/>
              <a:t> high NDVI </a:t>
            </a:r>
            <a:r>
              <a:rPr lang="it-IT" sz="1200" dirty="0" err="1"/>
              <a:t>vegetation</a:t>
            </a:r>
            <a:br>
              <a:rPr lang="it-IT" sz="1200" dirty="0"/>
            </a:br>
            <a:r>
              <a:rPr lang="it-IT" sz="1200" b="1" dirty="0"/>
              <a:t>Others =</a:t>
            </a:r>
            <a:r>
              <a:rPr lang="it-IT" sz="1200" dirty="0"/>
              <a:t> low NDVI </a:t>
            </a:r>
            <a:r>
              <a:rPr lang="it-IT" sz="1200" dirty="0" err="1"/>
              <a:t>surfaces</a:t>
            </a:r>
            <a:r>
              <a:rPr lang="it-IT" sz="1200" dirty="0"/>
              <a:t> (</a:t>
            </a:r>
            <a:r>
              <a:rPr lang="it-IT" sz="1200" dirty="0" err="1"/>
              <a:t>stressed</a:t>
            </a:r>
            <a:r>
              <a:rPr lang="it-IT" sz="1200" dirty="0"/>
              <a:t> </a:t>
            </a:r>
            <a:r>
              <a:rPr lang="it-IT" sz="1200" dirty="0" err="1"/>
              <a:t>vegetation</a:t>
            </a:r>
            <a:r>
              <a:rPr lang="it-IT" sz="1200" dirty="0"/>
              <a:t>, </a:t>
            </a:r>
            <a:r>
              <a:rPr lang="it-IT" sz="1200" dirty="0" err="1"/>
              <a:t>soil</a:t>
            </a:r>
            <a:r>
              <a:rPr lang="it-IT" sz="1200" dirty="0"/>
              <a:t>, rocks, </a:t>
            </a:r>
            <a:r>
              <a:rPr lang="it-IT" sz="1200" dirty="0" err="1"/>
              <a:t>burned</a:t>
            </a:r>
            <a:r>
              <a:rPr lang="it-IT" sz="1200" dirty="0"/>
              <a:t> </a:t>
            </a:r>
            <a:r>
              <a:rPr lang="it-IT" sz="1200" dirty="0" err="1"/>
              <a:t>areas</a:t>
            </a:r>
            <a:r>
              <a:rPr lang="it-IT" sz="1200" dirty="0"/>
              <a:t>)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7883973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63A739-978C-281D-7618-A1FB03049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z="4400" b="1" dirty="0"/>
              <a:t>Statistical </a:t>
            </a:r>
            <a:r>
              <a:rPr lang="it-IT" sz="4400" b="1" dirty="0" err="1"/>
              <a:t>Synthesis</a:t>
            </a:r>
            <a:r>
              <a:rPr lang="it-IT" sz="4400" b="1" dirty="0"/>
              <a:t> (ggplot2)</a:t>
            </a:r>
            <a:endParaRPr lang="it-IT" b="1" dirty="0"/>
          </a:p>
        </p:txBody>
      </p:sp>
      <p:pic>
        <p:nvPicPr>
          <p:cNvPr id="5" name="Segnaposto contenuto 4" descr="Immagine che contiene testo, schermata, diagramma, quadrato&#10;&#10;Descrizione generata automaticamente">
            <a:extLst>
              <a:ext uri="{FF2B5EF4-FFF2-40B4-BE49-F238E27FC236}">
                <a16:creationId xmlns:a16="http://schemas.microsoft.com/office/drawing/2014/main" id="{9C7D3BE6-9129-8E2D-E2C4-C566BFB2FE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85901" y="1598370"/>
            <a:ext cx="4597400" cy="5259630"/>
          </a:xfrm>
        </p:spPr>
      </p:pic>
      <p:pic>
        <p:nvPicPr>
          <p:cNvPr id="7" name="Immagine 6" descr="Immagine che contiene testo, schermata, diagramma, quadrato&#10;&#10;Descrizione generata automaticamente">
            <a:extLst>
              <a:ext uri="{FF2B5EF4-FFF2-40B4-BE49-F238E27FC236}">
                <a16:creationId xmlns:a16="http://schemas.microsoft.com/office/drawing/2014/main" id="{9FA602F2-63CC-02CF-B3C7-96D439A1CC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598370"/>
            <a:ext cx="4584700" cy="5245100"/>
          </a:xfrm>
          <a:prstGeom prst="rect">
            <a:avLst/>
          </a:prstGeom>
        </p:spPr>
      </p:pic>
      <p:cxnSp>
        <p:nvCxnSpPr>
          <p:cNvPr id="10" name="Connettore 1 9">
            <a:extLst>
              <a:ext uri="{FF2B5EF4-FFF2-40B4-BE49-F238E27FC236}">
                <a16:creationId xmlns:a16="http://schemas.microsoft.com/office/drawing/2014/main" id="{5E700F2A-3EF5-4B28-D903-C996FA9A1DCF}"/>
              </a:ext>
            </a:extLst>
          </p:cNvPr>
          <p:cNvCxnSpPr/>
          <p:nvPr/>
        </p:nvCxnSpPr>
        <p:spPr>
          <a:xfrm>
            <a:off x="1016000" y="3441032"/>
            <a:ext cx="1016000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1 11">
            <a:extLst>
              <a:ext uri="{FF2B5EF4-FFF2-40B4-BE49-F238E27FC236}">
                <a16:creationId xmlns:a16="http://schemas.microsoft.com/office/drawing/2014/main" id="{62DDFAEA-13F2-A70B-10BC-4A8BD31ED94A}"/>
              </a:ext>
            </a:extLst>
          </p:cNvPr>
          <p:cNvCxnSpPr/>
          <p:nvPr/>
        </p:nvCxnSpPr>
        <p:spPr>
          <a:xfrm flipH="1">
            <a:off x="1117601" y="4954337"/>
            <a:ext cx="993140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38538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EDB3D87-35C5-4816-B464-724E83D9E1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it-IT" b="1" dirty="0"/>
              <a:t>Thank </a:t>
            </a:r>
            <a:r>
              <a:rPr lang="it-IT" b="1" dirty="0" err="1"/>
              <a:t>you</a:t>
            </a:r>
            <a:r>
              <a:rPr lang="it-IT" b="1" dirty="0"/>
              <a:t>!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84AB3CF-603D-E920-E437-215278EB5F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651941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1792</TotalTime>
  <Words>993</Words>
  <Application>Microsoft Macintosh PowerPoint</Application>
  <PresentationFormat>Widescreen</PresentationFormat>
  <Paragraphs>86</Paragraphs>
  <Slides>16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Tema di Office</vt:lpstr>
      <vt:lpstr>Multitemporal Analysis of Vegetation Health and Landscape Heterogeneity</vt:lpstr>
      <vt:lpstr>Table of contents</vt:lpstr>
      <vt:lpstr>Introduction </vt:lpstr>
      <vt:lpstr>Study Area</vt:lpstr>
      <vt:lpstr>Spectral Structure</vt:lpstr>
      <vt:lpstr>True Color and False Color </vt:lpstr>
      <vt:lpstr>Visual Interpretation (RGB plots)</vt:lpstr>
      <vt:lpstr>Vegetation Health Index DVI = NIR -red</vt:lpstr>
      <vt:lpstr>Vegetation Health Index NDVI</vt:lpstr>
      <vt:lpstr>Landscape Structure</vt:lpstr>
      <vt:lpstr>Data Compression (PCA)</vt:lpstr>
      <vt:lpstr>Landscape Heterogeneity (SD)</vt:lpstr>
      <vt:lpstr>Quantifying Change</vt:lpstr>
      <vt:lpstr>Land Cover Classification</vt:lpstr>
      <vt:lpstr>Statistical Synthesis (ggplot2)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Giovanni Premoli - giovanni.premoli@studio.unibo.it</dc:creator>
  <cp:lastModifiedBy>Giovanni Premoli - giovanni.premoli@studio.unibo.it</cp:lastModifiedBy>
  <cp:revision>3</cp:revision>
  <dcterms:created xsi:type="dcterms:W3CDTF">2026-01-22T11:03:52Z</dcterms:created>
  <dcterms:modified xsi:type="dcterms:W3CDTF">2026-01-24T14:13:15Z</dcterms:modified>
</cp:coreProperties>
</file>