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72" r:id="rId5"/>
    <p:sldId id="259" r:id="rId6"/>
    <p:sldId id="265" r:id="rId7"/>
    <p:sldId id="260" r:id="rId8"/>
    <p:sldId id="261" r:id="rId9"/>
    <p:sldId id="273" r:id="rId10"/>
    <p:sldId id="262" r:id="rId11"/>
    <p:sldId id="263" r:id="rId12"/>
    <p:sldId id="274" r:id="rId13"/>
    <p:sldId id="264" r:id="rId14"/>
    <p:sldId id="266" r:id="rId15"/>
    <p:sldId id="275" r:id="rId16"/>
    <p:sldId id="267" r:id="rId17"/>
    <p:sldId id="276" r:id="rId18"/>
    <p:sldId id="268" r:id="rId19"/>
    <p:sldId id="269" r:id="rId20"/>
    <p:sldId id="277" r:id="rId21"/>
    <p:sldId id="270" r:id="rId22"/>
    <p:sldId id="278" r:id="rId23"/>
    <p:sldId id="271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B411-3A0C-9B48-A98A-2B446F0AABD3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99CA-CF3C-E64B-8EB9-117E32EBCA1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457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899CA-CF3C-E64B-8EB9-117E32EBCA1B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0201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9A4FDE-46F1-3450-7E47-B1626B918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4670ECC-3A63-8010-8CC4-F1E909958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2112553-978A-185F-8A9B-80A1D5A3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C696E5-C0D8-DA8A-186D-6BDB8CEB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CDA640-6DAA-23CD-5E80-A397620D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375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F4714B-4258-CA9A-3901-10915C3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9D578D-7F25-483F-A864-4F2B551F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967978-C623-43C8-F89C-DB098F96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1D2CC5-25B7-1F57-56A9-3794F235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183021-FD08-0BC7-1010-57AB4FDA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720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154129-E4B5-4B57-F1C5-B120EA19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4E9202-B21D-371B-3758-6EB526F14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61C499-71ED-906C-FF46-28C972E7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ED6DCB-FB3D-C569-04CA-79B9B659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EBA695-07F4-C2C0-22F5-1B061D35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16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97D9D5-888E-8CA8-23BE-B356D161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C4227E-48B7-0265-3406-62187C3C9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41F863A-D1E1-F6D7-94B8-EB850AD22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637080-019A-1777-1E00-514F9225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4D6820-5351-B3CA-9E6C-50F5D2B1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3B5B1F-8E4D-A759-5892-2B1F701D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82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AB7B62-0793-15DB-F1C6-4AAC87ECA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2FCB6F-936B-D2B1-04A8-AC659E704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936D69-6756-2EE0-778B-C95909653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390C6F-2CC5-4318-6BB2-037C89684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42D88E8-223D-3553-3485-DAD9B236A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ECDF892-C7A9-AFB5-159A-67F0BB5C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C6B057B-3247-98C4-03F7-B97D319A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28B1600-DF74-40B0-6C5E-CFE55F2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79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DABC32-69DF-08FD-3622-0B4E1F58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E59B45-53A2-811A-1D23-D49A7023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C9DF22-31A5-E90F-ED14-656235C0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9082DC7-55DD-6F39-2B09-E617B0C9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370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CBAC528-A007-B46B-EE45-4FE3183F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8128A55-B3C8-D04B-2BAE-55D1A952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8551F0-F930-E542-9F94-82F9C5E9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319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ED77-572A-D70E-9687-2BCECF0D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08C0F5-A9B3-0D77-73B2-1EDEA357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05B5EE3-11D3-EF31-04C7-3CD8748EA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820C839-44B2-9CAB-B548-52B19B56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EEF301-AC6D-FDAB-AA5E-4533EC71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317B4E-E9FA-F000-73B9-7023D7ED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534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781434-C659-A491-4AC9-DA23D1FF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0D7826-A60D-F9D5-DA8B-B3E267892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378E66F-2C01-EE95-61BF-3A99FDB67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C31C69-A66B-62FB-99C3-F1704490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596283-2AFC-5C52-1DBE-2D5024AE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888686-BBFD-535F-4077-EFAF6B58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221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B98917-0E5F-0473-8A2F-E8847A83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8D5CBF-C037-CAF2-21CD-B1471FB6E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191ECA-A2E4-571F-A0A5-59B1A47D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C8F8AC-186E-97C5-EBE1-ED420BD3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4D8CDA-891E-219F-04E9-3B0DF080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55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8D02F90-2B9F-A41E-10A6-B46D8393E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168813C-D328-63F7-4D7F-E11DD9261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533C06-9FC9-4F1C-F3F2-15EA8792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A96A9F-9526-096F-B46A-ACFADC18B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96AAA3-021A-75DA-D101-9867F3E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18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93B756C-93EC-4437-34E7-86DBB854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2F4F24-2565-4A70-9BCD-D90D81567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8C6753-91A7-B54E-C87D-F35807B2D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C0E02-674D-C74A-A347-1AB9372F0244}" type="datetimeFigureOut">
              <a:rPr lang="it-IT" smtClean="0"/>
              <a:t>26/01/26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16C18F-100D-B1DA-18EE-B6C2DD136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A180DC-6748-6403-2AFC-99C1A9932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6315F-7C99-D845-A091-DA6A7F16BD7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00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85143-D87D-F3E5-03AE-0991B7A251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 err="1"/>
              <a:t>Multitemporal</a:t>
            </a:r>
            <a:r>
              <a:rPr lang="it-IT" b="1" dirty="0"/>
              <a:t> Analysis of </a:t>
            </a:r>
            <a:r>
              <a:rPr lang="it-IT" b="1" dirty="0" err="1"/>
              <a:t>Vegetation</a:t>
            </a:r>
            <a:r>
              <a:rPr lang="it-IT" b="1" dirty="0"/>
              <a:t> Health and </a:t>
            </a:r>
            <a:r>
              <a:rPr lang="it-IT" b="1" dirty="0" err="1"/>
              <a:t>Landscape</a:t>
            </a:r>
            <a:r>
              <a:rPr lang="it-IT" b="1" dirty="0"/>
              <a:t> </a:t>
            </a:r>
            <a:r>
              <a:rPr lang="it-IT" b="1" dirty="0" err="1"/>
              <a:t>Heterogeneity</a:t>
            </a:r>
            <a:endParaRPr lang="it-IT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BFBDD8B-96B4-D97A-BE9B-3841375EC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2538"/>
            <a:ext cx="9144000" cy="1655762"/>
          </a:xfrm>
        </p:spPr>
        <p:txBody>
          <a:bodyPr>
            <a:normAutofit/>
          </a:bodyPr>
          <a:lstStyle/>
          <a:p>
            <a:r>
              <a:rPr lang="it-IT" sz="3200" dirty="0"/>
              <a:t>The Impact of 2019-2020 </a:t>
            </a:r>
            <a:r>
              <a:rPr lang="it-IT" sz="3200" dirty="0" err="1"/>
              <a:t>Bushfires</a:t>
            </a:r>
            <a:r>
              <a:rPr lang="it-IT" sz="3200" dirty="0"/>
              <a:t> in the Blue Mountains National Park, Australia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EA76FA4-5E40-35CC-B082-241981A43A8D}"/>
              </a:ext>
            </a:extLst>
          </p:cNvPr>
          <p:cNvSpPr txBox="1"/>
          <p:nvPr/>
        </p:nvSpPr>
        <p:spPr>
          <a:xfrm>
            <a:off x="215900" y="5994400"/>
            <a:ext cx="588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Student</a:t>
            </a:r>
            <a:r>
              <a:rPr lang="it-IT" dirty="0"/>
              <a:t>: Giovanni Premoli</a:t>
            </a:r>
          </a:p>
          <a:p>
            <a:r>
              <a:rPr lang="it-IT" dirty="0" err="1"/>
              <a:t>Student</a:t>
            </a:r>
            <a:r>
              <a:rPr lang="it-IT" dirty="0"/>
              <a:t> ID </a:t>
            </a:r>
            <a:r>
              <a:rPr lang="it-IT" dirty="0" err="1"/>
              <a:t>Number</a:t>
            </a:r>
            <a:r>
              <a:rPr lang="it-IT" dirty="0"/>
              <a:t>: 0001188103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514370F-CA76-1DFC-53DF-D495B6165001}"/>
              </a:ext>
            </a:extLst>
          </p:cNvPr>
          <p:cNvSpPr txBox="1"/>
          <p:nvPr/>
        </p:nvSpPr>
        <p:spPr>
          <a:xfrm>
            <a:off x="8839200" y="5994400"/>
            <a:ext cx="459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Course: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Ecology</a:t>
            </a:r>
            <a:r>
              <a:rPr lang="it-IT" dirty="0"/>
              <a:t> in </a:t>
            </a:r>
            <a:r>
              <a:rPr lang="it-IT" dirty="0" err="1"/>
              <a:t>R</a:t>
            </a:r>
            <a:endParaRPr lang="it-IT" dirty="0"/>
          </a:p>
          <a:p>
            <a:r>
              <a:rPr lang="it-IT" dirty="0" err="1"/>
              <a:t>Academic</a:t>
            </a:r>
            <a:r>
              <a:rPr lang="it-IT" dirty="0"/>
              <a:t> </a:t>
            </a:r>
            <a:r>
              <a:rPr lang="it-IT" dirty="0" err="1"/>
              <a:t>Year</a:t>
            </a:r>
            <a:r>
              <a:rPr lang="it-IT" dirty="0"/>
              <a:t>: 2025/2026</a:t>
            </a:r>
          </a:p>
        </p:txBody>
      </p:sp>
    </p:spTree>
    <p:extLst>
      <p:ext uri="{BB962C8B-B14F-4D97-AF65-F5344CB8AC3E}">
        <p14:creationId xmlns:p14="http://schemas.microsoft.com/office/powerpoint/2010/main" val="25718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70EC0E-1B10-34AE-AA0A-C01C7B6C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Table</a:t>
            </a:r>
            <a:r>
              <a:rPr lang="it-IT" b="1" dirty="0"/>
              <a:t> of </a:t>
            </a:r>
            <a:r>
              <a:rPr lang="it-IT" b="1" dirty="0" err="1"/>
              <a:t>contents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9A6B76-EEF1-7EAF-5874-4CA674FCA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b="1" dirty="0" err="1"/>
              <a:t>Introduction</a:t>
            </a:r>
            <a:endParaRPr lang="it-IT" sz="2000" b="1" dirty="0"/>
          </a:p>
          <a:p>
            <a:pPr marL="0" indent="0">
              <a:buNone/>
            </a:pPr>
            <a:r>
              <a:rPr lang="it-IT" sz="2000" b="1" dirty="0" err="1"/>
              <a:t>Spectral</a:t>
            </a:r>
            <a:r>
              <a:rPr lang="it-IT" sz="2000" b="1" dirty="0"/>
              <a:t> </a:t>
            </a:r>
            <a:r>
              <a:rPr lang="it-IT" sz="2000" b="1" dirty="0" err="1"/>
              <a:t>Structure</a:t>
            </a:r>
            <a:endParaRPr lang="it-IT" sz="2000" b="1" dirty="0"/>
          </a:p>
          <a:p>
            <a:pPr marL="0" indent="0">
              <a:buNone/>
            </a:pPr>
            <a:r>
              <a:rPr lang="it-IT" sz="1800" dirty="0"/>
              <a:t>	Visual </a:t>
            </a:r>
            <a:r>
              <a:rPr lang="it-IT" sz="1800" dirty="0" err="1"/>
              <a:t>Interpretation</a:t>
            </a:r>
            <a:r>
              <a:rPr lang="it-IT" sz="1800" dirty="0"/>
              <a:t> (RGB plots)</a:t>
            </a:r>
          </a:p>
          <a:p>
            <a:pPr marL="0" indent="0">
              <a:buNone/>
            </a:pPr>
            <a:r>
              <a:rPr lang="it-IT" sz="1800" dirty="0"/>
              <a:t>	</a:t>
            </a:r>
            <a:r>
              <a:rPr lang="it-IT" sz="1800" dirty="0" err="1"/>
              <a:t>Vegetation</a:t>
            </a:r>
            <a:r>
              <a:rPr lang="it-IT" sz="1800" dirty="0"/>
              <a:t> Health Index (DVI and NDVI)</a:t>
            </a:r>
          </a:p>
          <a:p>
            <a:pPr marL="0" indent="0">
              <a:buNone/>
            </a:pPr>
            <a:r>
              <a:rPr lang="it-IT" sz="2000" b="1" dirty="0" err="1"/>
              <a:t>Landscape</a:t>
            </a:r>
            <a:r>
              <a:rPr lang="it-IT" sz="2000" b="1" dirty="0"/>
              <a:t> </a:t>
            </a:r>
            <a:r>
              <a:rPr lang="it-IT" sz="2000" b="1" dirty="0" err="1"/>
              <a:t>Structure</a:t>
            </a:r>
            <a:endParaRPr lang="it-IT" sz="2000" b="1" dirty="0"/>
          </a:p>
          <a:p>
            <a:pPr marL="457200" lvl="1" indent="0">
              <a:buNone/>
            </a:pPr>
            <a:r>
              <a:rPr lang="it-IT" sz="1800" dirty="0"/>
              <a:t>	Data </a:t>
            </a:r>
            <a:r>
              <a:rPr lang="it-IT" sz="1800" dirty="0" err="1"/>
              <a:t>Compression</a:t>
            </a:r>
            <a:r>
              <a:rPr lang="it-IT" sz="1800" dirty="0"/>
              <a:t> (PCA)</a:t>
            </a:r>
          </a:p>
          <a:p>
            <a:pPr marL="457200" lvl="1" indent="0">
              <a:buNone/>
            </a:pPr>
            <a:r>
              <a:rPr lang="it-IT" sz="1800" dirty="0"/>
              <a:t>	</a:t>
            </a:r>
            <a:r>
              <a:rPr lang="it-IT" sz="1800" dirty="0" err="1"/>
              <a:t>Landscape</a:t>
            </a:r>
            <a:r>
              <a:rPr lang="it-IT" sz="1800" dirty="0"/>
              <a:t> </a:t>
            </a:r>
            <a:r>
              <a:rPr lang="it-IT" sz="1800" dirty="0" err="1"/>
              <a:t>Heterogeneity</a:t>
            </a:r>
            <a:r>
              <a:rPr lang="it-IT" sz="1800" dirty="0"/>
              <a:t> (SD)</a:t>
            </a:r>
          </a:p>
          <a:p>
            <a:pPr marL="0" indent="0">
              <a:buNone/>
            </a:pPr>
            <a:r>
              <a:rPr lang="it-IT" sz="2000" b="1" dirty="0" err="1"/>
              <a:t>Quantifying</a:t>
            </a:r>
            <a:r>
              <a:rPr lang="it-IT" sz="2000" b="1" dirty="0"/>
              <a:t> </a:t>
            </a:r>
            <a:r>
              <a:rPr lang="it-IT" sz="2000" b="1" dirty="0" err="1"/>
              <a:t>Change</a:t>
            </a:r>
            <a:endParaRPr lang="it-IT" sz="2000" b="1" dirty="0"/>
          </a:p>
          <a:p>
            <a:pPr marL="0" indent="0">
              <a:buNone/>
            </a:pPr>
            <a:r>
              <a:rPr lang="it-IT" sz="1800" dirty="0"/>
              <a:t>	Land Cover </a:t>
            </a:r>
            <a:r>
              <a:rPr lang="it-IT" sz="1800" dirty="0" err="1"/>
              <a:t>Classification</a:t>
            </a:r>
            <a:endParaRPr lang="it-IT" sz="1800" dirty="0"/>
          </a:p>
          <a:p>
            <a:pPr marL="0" indent="0">
              <a:buNone/>
            </a:pPr>
            <a:r>
              <a:rPr lang="it-IT" sz="1800" dirty="0"/>
              <a:t>	Statistical </a:t>
            </a:r>
            <a:r>
              <a:rPr lang="it-IT" sz="1800" dirty="0" err="1"/>
              <a:t>Synthesis</a:t>
            </a:r>
            <a:r>
              <a:rPr lang="it-IT" sz="1800" dirty="0"/>
              <a:t> (ggplot2)</a:t>
            </a:r>
          </a:p>
          <a:p>
            <a:pPr marL="0" indent="0">
              <a:buNone/>
            </a:pPr>
            <a:r>
              <a:rPr lang="it-IT" sz="2000" b="1" dirty="0" err="1"/>
              <a:t>Conclusions</a:t>
            </a: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144094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0569DA-D851-F062-4D5E-D4F448B4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Introduction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1DEA7F-72EB-C864-7C52-A4AC797B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000" b="1" dirty="0" err="1"/>
              <a:t>Objective</a:t>
            </a:r>
            <a:r>
              <a:rPr lang="it-IT" sz="2000" b="1" dirty="0"/>
              <a:t>:</a:t>
            </a:r>
            <a:r>
              <a:rPr lang="it-IT" dirty="0"/>
              <a:t> </a:t>
            </a:r>
            <a:r>
              <a:rPr lang="it-IT" sz="2000" dirty="0" err="1"/>
              <a:t>assess</a:t>
            </a:r>
            <a:r>
              <a:rPr lang="it-IT" sz="2000" dirty="0"/>
              <a:t> the </a:t>
            </a:r>
            <a:r>
              <a:rPr lang="it-IT" sz="2000" dirty="0" err="1"/>
              <a:t>ecological</a:t>
            </a:r>
            <a:r>
              <a:rPr lang="it-IT" sz="2000" dirty="0"/>
              <a:t> impact of late 2019 – </a:t>
            </a:r>
            <a:r>
              <a:rPr lang="it-IT" sz="2000" dirty="0" err="1"/>
              <a:t>early</a:t>
            </a:r>
            <a:r>
              <a:rPr lang="it-IT" sz="2000" dirty="0"/>
              <a:t> 2020 </a:t>
            </a:r>
            <a:r>
              <a:rPr lang="it-IT" sz="2000" dirty="0" err="1"/>
              <a:t>bushfires</a:t>
            </a:r>
            <a:r>
              <a:rPr lang="it-IT" sz="2000" dirty="0"/>
              <a:t> in Australia </a:t>
            </a:r>
            <a:r>
              <a:rPr lang="it-IT" sz="2000" dirty="0" err="1"/>
              <a:t>through</a:t>
            </a:r>
            <a:r>
              <a:rPr lang="it-IT" sz="2000" dirty="0"/>
              <a:t> the </a:t>
            </a:r>
            <a:r>
              <a:rPr lang="it-IT" sz="2000" dirty="0" err="1"/>
              <a:t>application</a:t>
            </a:r>
            <a:r>
              <a:rPr lang="it-IT" sz="2000" dirty="0"/>
              <a:t> of </a:t>
            </a:r>
            <a:r>
              <a:rPr lang="it-IT" sz="2000" dirty="0" err="1"/>
              <a:t>several</a:t>
            </a:r>
            <a:r>
              <a:rPr lang="it-IT" sz="2000" dirty="0"/>
              <a:t> remote sensing and </a:t>
            </a:r>
            <a:r>
              <a:rPr lang="it-IT" sz="2000" dirty="0" err="1"/>
              <a:t>statistical</a:t>
            </a:r>
            <a:r>
              <a:rPr lang="it-IT" sz="2000" dirty="0"/>
              <a:t> </a:t>
            </a:r>
            <a:r>
              <a:rPr lang="it-IT" sz="2000" dirty="0" err="1"/>
              <a:t>analysis</a:t>
            </a: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b="1" dirty="0"/>
              <a:t>Study Area: </a:t>
            </a:r>
            <a:r>
              <a:rPr lang="it-IT" sz="2000" dirty="0"/>
              <a:t>Blue Mountains National Park (Australia)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b="1" dirty="0"/>
              <a:t>Data Source: </a:t>
            </a:r>
            <a:r>
              <a:rPr lang="it-IT" sz="2000" dirty="0"/>
              <a:t>Sentinel-2 TC and FC images (</a:t>
            </a:r>
            <a:r>
              <a:rPr lang="it-IT" sz="2000" dirty="0" err="1"/>
              <a:t>Copernicus</a:t>
            </a:r>
            <a:r>
              <a:rPr lang="it-IT" sz="2000" dirty="0"/>
              <a:t> Browser)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b="1" dirty="0" err="1"/>
              <a:t>Comparison</a:t>
            </a:r>
            <a:r>
              <a:rPr lang="it-IT" sz="2000" b="1" dirty="0"/>
              <a:t> </a:t>
            </a:r>
            <a:r>
              <a:rPr lang="it-IT" sz="2000" b="1" dirty="0" err="1"/>
              <a:t>Period</a:t>
            </a:r>
            <a:r>
              <a:rPr lang="it-IT" sz="2000" b="1" dirty="0"/>
              <a:t>: </a:t>
            </a:r>
            <a:r>
              <a:rPr lang="it-IT" sz="2000" dirty="0"/>
              <a:t>2019 (</a:t>
            </a:r>
            <a:r>
              <a:rPr lang="it-IT" sz="2000" dirty="0" err="1"/>
              <a:t>pre-fire</a:t>
            </a:r>
            <a:r>
              <a:rPr lang="it-IT" sz="2000" dirty="0"/>
              <a:t>) – 2020 (post-</a:t>
            </a:r>
            <a:r>
              <a:rPr lang="it-IT" sz="2000" dirty="0" err="1"/>
              <a:t>fire</a:t>
            </a:r>
            <a:r>
              <a:rPr lang="it-IT" sz="2000" dirty="0"/>
              <a:t>)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b="1" dirty="0"/>
              <a:t>Tools:</a:t>
            </a:r>
            <a:r>
              <a:rPr lang="it-IT" sz="2000" dirty="0"/>
              <a:t> </a:t>
            </a:r>
            <a:r>
              <a:rPr lang="it-IT" sz="2000" dirty="0" err="1"/>
              <a:t>R</a:t>
            </a:r>
            <a:r>
              <a:rPr lang="it-IT" sz="2000" dirty="0"/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330083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21DC9-3DF5-F6FD-34FE-57628908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Packages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20EAA7-103A-1D3E-3477-A9CEAD47977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it-IT" dirty="0"/>
              <a:t>library(terra)</a:t>
            </a:r>
          </a:p>
          <a:p>
            <a:pPr marL="0" indent="0">
              <a:buNone/>
            </a:pPr>
            <a:r>
              <a:rPr lang="it-IT" dirty="0"/>
              <a:t>library(ggplot2)</a:t>
            </a:r>
          </a:p>
          <a:p>
            <a:pPr marL="0" indent="0">
              <a:buNone/>
            </a:pPr>
            <a:r>
              <a:rPr lang="it-IT" dirty="0"/>
              <a:t>library(patchwork)</a:t>
            </a:r>
          </a:p>
          <a:p>
            <a:pPr marL="0" indent="0">
              <a:buNone/>
            </a:pPr>
            <a:r>
              <a:rPr lang="it-IT" dirty="0"/>
              <a:t>library(</a:t>
            </a:r>
            <a:r>
              <a:rPr lang="it-IT" dirty="0" err="1"/>
              <a:t>viridis</a:t>
            </a:r>
            <a:r>
              <a:rPr lang="it-IT" dirty="0"/>
              <a:t>)</a:t>
            </a:r>
          </a:p>
          <a:p>
            <a:pPr marL="0" indent="0">
              <a:buNone/>
            </a:pPr>
            <a:r>
              <a:rPr lang="it-IT" dirty="0"/>
              <a:t>library(</a:t>
            </a:r>
            <a:r>
              <a:rPr lang="it-IT" dirty="0" err="1"/>
              <a:t>imageRy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8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9A1A7C-645E-6AE2-64F5-8BEDA376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Study Area</a:t>
            </a:r>
          </a:p>
        </p:txBody>
      </p:sp>
      <p:pic>
        <p:nvPicPr>
          <p:cNvPr id="5" name="Segnaposto contenuto 4" descr="Immagine che contiene testo, mappa, diagramma, Carattere&#10;&#10;Descrizione generata automaticamente">
            <a:extLst>
              <a:ext uri="{FF2B5EF4-FFF2-40B4-BE49-F238E27FC236}">
                <a16:creationId xmlns:a16="http://schemas.microsoft.com/office/drawing/2014/main" id="{E9903F9B-E2E4-386A-43DB-8A524FC9A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77244"/>
            <a:ext cx="6502400" cy="3632200"/>
          </a:xfrm>
        </p:spPr>
      </p:pic>
      <p:pic>
        <p:nvPicPr>
          <p:cNvPr id="7" name="Immagine 6" descr="Immagine che contiene mappa, testo, atlante, schermata&#10;&#10;Descrizione generata automaticamente">
            <a:extLst>
              <a:ext uri="{FF2B5EF4-FFF2-40B4-BE49-F238E27FC236}">
                <a16:creationId xmlns:a16="http://schemas.microsoft.com/office/drawing/2014/main" id="{1E98CD1E-8FBF-D8EB-1AED-A7FE320C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8781"/>
            <a:ext cx="5406701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7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B96CD6-C85D-FE3D-CB52-BBDF7C56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Spectral</a:t>
            </a:r>
            <a:r>
              <a:rPr lang="it-IT" b="1" dirty="0"/>
              <a:t> </a:t>
            </a:r>
            <a:r>
              <a:rPr lang="it-IT" b="1" dirty="0" err="1"/>
              <a:t>Structure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51136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C0B160-D284-B28A-B523-7802683C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758825"/>
            <a:ext cx="3190875" cy="1325563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True Color and False Color </a:t>
            </a:r>
          </a:p>
        </p:txBody>
      </p:sp>
      <p:pic>
        <p:nvPicPr>
          <p:cNvPr id="8" name="Segnaposto contenuto 7" descr="Immagine che contiene mappa, schermata&#10;&#10;Descrizione generata automaticamente">
            <a:extLst>
              <a:ext uri="{FF2B5EF4-FFF2-40B4-BE49-F238E27FC236}">
                <a16:creationId xmlns:a16="http://schemas.microsoft.com/office/drawing/2014/main" id="{86A45D80-DE3C-2AA5-6AA5-A6968F9B5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039" y="0"/>
            <a:ext cx="6143626" cy="7028581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64DCCA-BAB2-B99F-2621-1F335983D11C}"/>
              </a:ext>
            </a:extLst>
          </p:cNvPr>
          <p:cNvSpPr txBox="1"/>
          <p:nvPr/>
        </p:nvSpPr>
        <p:spPr>
          <a:xfrm>
            <a:off x="356395" y="4344849"/>
            <a:ext cx="393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The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2019 and 2020 can </a:t>
            </a:r>
            <a:r>
              <a:rPr lang="it-IT" dirty="0" err="1"/>
              <a:t>also</a:t>
            </a:r>
            <a:r>
              <a:rPr lang="it-IT" dirty="0"/>
              <a:t> be </a:t>
            </a:r>
            <a:r>
              <a:rPr lang="it-IT" dirty="0" err="1"/>
              <a:t>observed</a:t>
            </a:r>
            <a:r>
              <a:rPr lang="it-IT" dirty="0"/>
              <a:t> in the </a:t>
            </a:r>
            <a:r>
              <a:rPr lang="it-IT" dirty="0" err="1"/>
              <a:t>visible</a:t>
            </a:r>
            <a:r>
              <a:rPr lang="it-IT" dirty="0"/>
              <a:t> </a:t>
            </a:r>
            <a:r>
              <a:rPr lang="it-IT" dirty="0" err="1"/>
              <a:t>spectrum</a:t>
            </a:r>
            <a:r>
              <a:rPr lang="it-IT" dirty="0"/>
              <a:t>.</a:t>
            </a:r>
          </a:p>
          <a:p>
            <a:r>
              <a:rPr lang="it-IT" dirty="0"/>
              <a:t>False Color </a:t>
            </a:r>
            <a:r>
              <a:rPr lang="it-IT" dirty="0" err="1"/>
              <a:t>composition</a:t>
            </a:r>
            <a:r>
              <a:rPr lang="it-IT" dirty="0"/>
              <a:t> </a:t>
            </a:r>
            <a:r>
              <a:rPr lang="it-IT" dirty="0" err="1"/>
              <a:t>emphazises</a:t>
            </a:r>
            <a:r>
              <a:rPr lang="it-IT" dirty="0"/>
              <a:t> some large </a:t>
            </a:r>
            <a:r>
              <a:rPr lang="it-IT" dirty="0" err="1"/>
              <a:t>areas</a:t>
            </a:r>
            <a:r>
              <a:rPr lang="it-IT" dirty="0"/>
              <a:t> of </a:t>
            </a:r>
            <a:r>
              <a:rPr lang="it-IT" dirty="0" err="1"/>
              <a:t>reduced</a:t>
            </a:r>
            <a:r>
              <a:rPr lang="it-IT" dirty="0"/>
              <a:t> NIR </a:t>
            </a:r>
            <a:r>
              <a:rPr lang="it-IT" dirty="0" err="1"/>
              <a:t>reflection</a:t>
            </a:r>
            <a:r>
              <a:rPr lang="it-IT" dirty="0"/>
              <a:t> </a:t>
            </a:r>
            <a:r>
              <a:rPr lang="it-IT" dirty="0" err="1"/>
              <a:t>caused</a:t>
            </a:r>
            <a:r>
              <a:rPr lang="it-IT" dirty="0"/>
              <a:t> by the </a:t>
            </a:r>
            <a:r>
              <a:rPr lang="it-IT" dirty="0" err="1"/>
              <a:t>bushfires</a:t>
            </a:r>
            <a:r>
              <a:rPr lang="it-IT" dirty="0"/>
              <a:t>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81D9C5-34B4-EB07-7810-3440620B070B}"/>
              </a:ext>
            </a:extLst>
          </p:cNvPr>
          <p:cNvSpPr txBox="1"/>
          <p:nvPr/>
        </p:nvSpPr>
        <p:spPr>
          <a:xfrm>
            <a:off x="1484189" y="2399010"/>
            <a:ext cx="1681411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000" dirty="0"/>
              <a:t>tc19 &lt;- </a:t>
            </a:r>
            <a:r>
              <a:rPr lang="it-IT" sz="1000" dirty="0" err="1"/>
              <a:t>rast</a:t>
            </a:r>
            <a:r>
              <a:rPr lang="it-IT" sz="1000" dirty="0"/>
              <a:t>("2019_TC.jpg")</a:t>
            </a:r>
          </a:p>
          <a:p>
            <a:r>
              <a:rPr lang="it-IT" sz="1000" dirty="0"/>
              <a:t>fc19 &lt;- </a:t>
            </a:r>
            <a:r>
              <a:rPr lang="it-IT" sz="1000" dirty="0" err="1"/>
              <a:t>rast</a:t>
            </a:r>
            <a:r>
              <a:rPr lang="it-IT" sz="1000" dirty="0"/>
              <a:t>("2019_FC.jpg")</a:t>
            </a:r>
          </a:p>
          <a:p>
            <a:r>
              <a:rPr lang="it-IT" sz="1000" dirty="0"/>
              <a:t>tc20 &lt;- </a:t>
            </a:r>
            <a:r>
              <a:rPr lang="it-IT" sz="1000" dirty="0" err="1"/>
              <a:t>rast</a:t>
            </a:r>
            <a:r>
              <a:rPr lang="it-IT" sz="1000" dirty="0"/>
              <a:t>("2020_TC.jpg")</a:t>
            </a:r>
          </a:p>
          <a:p>
            <a:r>
              <a:rPr lang="it-IT" sz="1000" dirty="0"/>
              <a:t>fc20 &lt;- </a:t>
            </a:r>
            <a:r>
              <a:rPr lang="it-IT" sz="1000" dirty="0" err="1"/>
              <a:t>rast</a:t>
            </a:r>
            <a:r>
              <a:rPr lang="it-IT" sz="1000" dirty="0"/>
              <a:t>("2020_FC.jpg")</a:t>
            </a:r>
          </a:p>
          <a:p>
            <a:endParaRPr lang="it-IT" sz="1000" dirty="0"/>
          </a:p>
          <a:p>
            <a:r>
              <a:rPr lang="it-IT" sz="1000" dirty="0"/>
              <a:t>par(</a:t>
            </a:r>
            <a:r>
              <a:rPr lang="it-IT" sz="1000" dirty="0" err="1"/>
              <a:t>mfrow</a:t>
            </a:r>
            <a:r>
              <a:rPr lang="it-IT" sz="1000" dirty="0"/>
              <a:t>=c(2,2))</a:t>
            </a:r>
          </a:p>
          <a:p>
            <a:r>
              <a:rPr lang="it-IT" sz="1000" dirty="0"/>
              <a:t>plot(tc19, </a:t>
            </a:r>
            <a:r>
              <a:rPr lang="it-IT" sz="1000" dirty="0" err="1"/>
              <a:t>main</a:t>
            </a:r>
            <a:r>
              <a:rPr lang="it-IT" sz="1000" dirty="0"/>
              <a:t> = "TC19")</a:t>
            </a:r>
          </a:p>
          <a:p>
            <a:r>
              <a:rPr lang="it-IT" sz="1000" dirty="0"/>
              <a:t>plot(fc19, </a:t>
            </a:r>
            <a:r>
              <a:rPr lang="it-IT" sz="1000" dirty="0" err="1"/>
              <a:t>main</a:t>
            </a:r>
            <a:r>
              <a:rPr lang="it-IT" sz="1000" dirty="0"/>
              <a:t> = "FC19")</a:t>
            </a:r>
          </a:p>
          <a:p>
            <a:r>
              <a:rPr lang="it-IT" sz="1000" dirty="0"/>
              <a:t>plot(tc20, </a:t>
            </a:r>
            <a:r>
              <a:rPr lang="it-IT" sz="1000" dirty="0" err="1"/>
              <a:t>main</a:t>
            </a:r>
            <a:r>
              <a:rPr lang="it-IT" sz="1000" dirty="0"/>
              <a:t> = "TC20")</a:t>
            </a:r>
          </a:p>
          <a:p>
            <a:r>
              <a:rPr lang="it-IT" sz="1000" dirty="0"/>
              <a:t>plot(fc20, </a:t>
            </a:r>
            <a:r>
              <a:rPr lang="it-IT" sz="1000" dirty="0" err="1"/>
              <a:t>main</a:t>
            </a:r>
            <a:r>
              <a:rPr lang="it-IT" sz="1000" dirty="0"/>
              <a:t> = "FC20")</a:t>
            </a:r>
          </a:p>
        </p:txBody>
      </p:sp>
    </p:spTree>
    <p:extLst>
      <p:ext uri="{BB962C8B-B14F-4D97-AF65-F5344CB8AC3E}">
        <p14:creationId xmlns:p14="http://schemas.microsoft.com/office/powerpoint/2010/main" val="369337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810913-4452-ACDF-7DE6-059DAC8F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772"/>
            <a:ext cx="10515600" cy="1325563"/>
          </a:xfrm>
        </p:spPr>
        <p:txBody>
          <a:bodyPr/>
          <a:lstStyle/>
          <a:p>
            <a:r>
              <a:rPr lang="it-IT" b="1" dirty="0"/>
              <a:t>Visual </a:t>
            </a:r>
            <a:r>
              <a:rPr lang="it-IT" b="1" dirty="0" err="1"/>
              <a:t>Interpretation</a:t>
            </a:r>
            <a:r>
              <a:rPr lang="it-IT" b="1" dirty="0"/>
              <a:t> (RGB plots)</a:t>
            </a:r>
          </a:p>
        </p:txBody>
      </p:sp>
      <p:pic>
        <p:nvPicPr>
          <p:cNvPr id="7" name="Immagine 6" descr="Immagine che contiene Policromia, arte&#10;&#10;Descrizione generata automaticamente">
            <a:extLst>
              <a:ext uri="{FF2B5EF4-FFF2-40B4-BE49-F238E27FC236}">
                <a16:creationId xmlns:a16="http://schemas.microsoft.com/office/drawing/2014/main" id="{2C1C4554-E66E-0DB6-DA96-8F323C43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" y="1074817"/>
            <a:ext cx="11295522" cy="385199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E712A2E-F611-FDD1-6D15-33ACE68EAB4F}"/>
              </a:ext>
            </a:extLst>
          </p:cNvPr>
          <p:cNvSpPr txBox="1"/>
          <p:nvPr/>
        </p:nvSpPr>
        <p:spPr>
          <a:xfrm>
            <a:off x="838198" y="5692798"/>
            <a:ext cx="10905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1400" dirty="0"/>
          </a:p>
          <a:p>
            <a:r>
              <a:rPr lang="it-IT" sz="1400" dirty="0" err="1"/>
              <a:t>Multispectral</a:t>
            </a:r>
            <a:r>
              <a:rPr lang="it-IT" sz="1400" dirty="0"/>
              <a:t> RGB </a:t>
            </a:r>
            <a:r>
              <a:rPr lang="it-IT" sz="1400" dirty="0" err="1"/>
              <a:t>colouring</a:t>
            </a:r>
            <a:r>
              <a:rPr lang="it-IT" sz="1400" dirty="0"/>
              <a:t>, </a:t>
            </a:r>
            <a:r>
              <a:rPr lang="it-IT" sz="1400" dirty="0" err="1"/>
              <a:t>obtained</a:t>
            </a:r>
            <a:r>
              <a:rPr lang="it-IT" sz="1400" dirty="0"/>
              <a:t> by </a:t>
            </a:r>
            <a:r>
              <a:rPr lang="it-IT" sz="1400" dirty="0" err="1"/>
              <a:t>combining</a:t>
            </a:r>
            <a:r>
              <a:rPr lang="it-IT" sz="1400" dirty="0"/>
              <a:t> </a:t>
            </a:r>
            <a:r>
              <a:rPr lang="it-IT" sz="1400" dirty="0" err="1"/>
              <a:t>different</a:t>
            </a:r>
            <a:r>
              <a:rPr lang="it-IT" sz="1400" dirty="0"/>
              <a:t> </a:t>
            </a:r>
            <a:r>
              <a:rPr lang="it-IT" sz="1400" dirty="0" err="1"/>
              <a:t>spectral</a:t>
            </a:r>
            <a:r>
              <a:rPr lang="it-IT" sz="1400" dirty="0"/>
              <a:t> </a:t>
            </a:r>
            <a:r>
              <a:rPr lang="it-IT" sz="1400" dirty="0" err="1"/>
              <a:t>bands</a:t>
            </a:r>
            <a:r>
              <a:rPr lang="it-IT" sz="1400" dirty="0"/>
              <a:t>, highlights an </a:t>
            </a:r>
            <a:r>
              <a:rPr lang="it-IT" sz="1400" dirty="0" err="1"/>
              <a:t>increase</a:t>
            </a:r>
            <a:r>
              <a:rPr lang="it-IT" sz="1400" dirty="0"/>
              <a:t> in </a:t>
            </a:r>
            <a:r>
              <a:rPr lang="it-IT" sz="1400" dirty="0" err="1"/>
              <a:t>spatial</a:t>
            </a:r>
            <a:r>
              <a:rPr lang="it-IT" sz="1400" dirty="0"/>
              <a:t> </a:t>
            </a:r>
            <a:r>
              <a:rPr lang="it-IT" sz="1400" dirty="0" err="1"/>
              <a:t>heterogeneity</a:t>
            </a:r>
            <a:r>
              <a:rPr lang="it-IT" sz="1400" dirty="0"/>
              <a:t> </a:t>
            </a:r>
            <a:r>
              <a:rPr lang="it-IT" sz="1400" dirty="0" err="1"/>
              <a:t>between</a:t>
            </a:r>
            <a:r>
              <a:rPr lang="it-IT" sz="1400" dirty="0"/>
              <a:t> 2019 and 2020. </a:t>
            </a:r>
            <a:r>
              <a:rPr lang="it-IT" sz="1400" dirty="0" err="1"/>
              <a:t>While</a:t>
            </a:r>
            <a:r>
              <a:rPr lang="it-IT" sz="1400" dirty="0"/>
              <a:t> the overall </a:t>
            </a:r>
            <a:r>
              <a:rPr lang="it-IT" sz="1400" dirty="0" err="1"/>
              <a:t>geomorphological</a:t>
            </a:r>
            <a:r>
              <a:rPr lang="it-IT" sz="1400" dirty="0"/>
              <a:t> </a:t>
            </a:r>
            <a:r>
              <a:rPr lang="it-IT" sz="1400" dirty="0" err="1"/>
              <a:t>structure</a:t>
            </a:r>
            <a:r>
              <a:rPr lang="it-IT" sz="1400" dirty="0"/>
              <a:t> </a:t>
            </a:r>
            <a:r>
              <a:rPr lang="it-IT" sz="1400" dirty="0" err="1"/>
              <a:t>remains</a:t>
            </a:r>
            <a:r>
              <a:rPr lang="it-IT" sz="1400" dirty="0"/>
              <a:t> </a:t>
            </a:r>
            <a:r>
              <a:rPr lang="it-IT" sz="1400" dirty="0" err="1"/>
              <a:t>recognizable</a:t>
            </a:r>
            <a:r>
              <a:rPr lang="it-IT" sz="1400" dirty="0"/>
              <a:t>, post-</a:t>
            </a:r>
            <a:r>
              <a:rPr lang="it-IT" sz="1400" dirty="0" err="1"/>
              <a:t>fire</a:t>
            </a:r>
            <a:r>
              <a:rPr lang="it-IT" sz="1400" dirty="0"/>
              <a:t> images show a more </a:t>
            </a:r>
            <a:r>
              <a:rPr lang="it-IT" sz="1400" dirty="0" err="1"/>
              <a:t>fragmented</a:t>
            </a:r>
            <a:r>
              <a:rPr lang="it-IT" sz="1400" dirty="0"/>
              <a:t> </a:t>
            </a:r>
            <a:r>
              <a:rPr lang="it-IT" sz="1400" dirty="0" err="1"/>
              <a:t>spectral</a:t>
            </a:r>
            <a:r>
              <a:rPr lang="it-IT" sz="1400" dirty="0"/>
              <a:t> pattern, </a:t>
            </a:r>
            <a:r>
              <a:rPr lang="it-IT" sz="1400" dirty="0" err="1"/>
              <a:t>consistent</a:t>
            </a:r>
            <a:r>
              <a:rPr lang="it-IT" sz="1400" dirty="0"/>
              <a:t> with </a:t>
            </a:r>
            <a:r>
              <a:rPr lang="it-IT" sz="1400" dirty="0" err="1"/>
              <a:t>vegetation</a:t>
            </a:r>
            <a:r>
              <a:rPr lang="it-IT" sz="1400" dirty="0"/>
              <a:t> health </a:t>
            </a:r>
            <a:r>
              <a:rPr lang="it-IT" sz="1400" dirty="0" err="1"/>
              <a:t>reduction</a:t>
            </a:r>
            <a:r>
              <a:rPr lang="it-IT" sz="1400" dirty="0"/>
              <a:t> and </a:t>
            </a:r>
            <a:r>
              <a:rPr lang="it-IT" sz="1400" dirty="0" err="1"/>
              <a:t>patchy</a:t>
            </a:r>
            <a:r>
              <a:rPr lang="it-IT" sz="1400" dirty="0"/>
              <a:t> recovery following the </a:t>
            </a:r>
            <a:r>
              <a:rPr lang="it-IT" sz="1400" dirty="0" err="1"/>
              <a:t>disturbance</a:t>
            </a:r>
            <a:r>
              <a:rPr lang="it-IT" sz="1400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9D11BD5-4466-9930-2513-4DAF0E35AF52}"/>
              </a:ext>
            </a:extLst>
          </p:cNvPr>
          <p:cNvSpPr txBox="1"/>
          <p:nvPr/>
        </p:nvSpPr>
        <p:spPr>
          <a:xfrm>
            <a:off x="342900" y="2070100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B4771F2-84F7-3EBA-8186-B9D9351A4B42}"/>
              </a:ext>
            </a:extLst>
          </p:cNvPr>
          <p:cNvSpPr txBox="1"/>
          <p:nvPr/>
        </p:nvSpPr>
        <p:spPr>
          <a:xfrm>
            <a:off x="342900" y="404923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2020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6B6BEFA-0DEC-CBAE-2191-C1E4EFDF5B90}"/>
              </a:ext>
            </a:extLst>
          </p:cNvPr>
          <p:cNvSpPr txBox="1"/>
          <p:nvPr/>
        </p:nvSpPr>
        <p:spPr>
          <a:xfrm>
            <a:off x="838198" y="5070072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NIR on red: 2020 red color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less</a:t>
            </a:r>
            <a:r>
              <a:rPr lang="it-IT" sz="1400" dirty="0"/>
              <a:t> </a:t>
            </a:r>
            <a:r>
              <a:rPr lang="it-IT" sz="1400" dirty="0" err="1"/>
              <a:t>continuous</a:t>
            </a:r>
            <a:r>
              <a:rPr lang="it-IT" sz="1400" dirty="0"/>
              <a:t> -&gt;  </a:t>
            </a:r>
            <a:r>
              <a:rPr lang="it-IT" sz="1400" dirty="0" err="1"/>
              <a:t>reduction</a:t>
            </a:r>
            <a:r>
              <a:rPr lang="it-IT" sz="1400" dirty="0"/>
              <a:t> in NIR </a:t>
            </a:r>
            <a:r>
              <a:rPr lang="it-IT" sz="1400" dirty="0" err="1"/>
              <a:t>reflectance</a:t>
            </a:r>
            <a:r>
              <a:rPr lang="it-IT" sz="1400" dirty="0"/>
              <a:t> due to </a:t>
            </a:r>
            <a:r>
              <a:rPr lang="it-IT" sz="1400" dirty="0" err="1"/>
              <a:t>fires</a:t>
            </a:r>
            <a:r>
              <a:rPr lang="it-IT" sz="1400" dirty="0"/>
              <a:t>. The </a:t>
            </a:r>
            <a:r>
              <a:rPr lang="it-IT" sz="1400" dirty="0" err="1"/>
              <a:t>vegetation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less</a:t>
            </a:r>
            <a:r>
              <a:rPr lang="it-IT" sz="1400" dirty="0"/>
              <a:t> </a:t>
            </a:r>
            <a:r>
              <a:rPr lang="it-IT" sz="1400" dirty="0" err="1"/>
              <a:t>healthy</a:t>
            </a:r>
            <a:r>
              <a:rPr lang="it-IT" sz="1400" dirty="0"/>
              <a:t>.</a:t>
            </a:r>
          </a:p>
          <a:p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B616DD5-EEEF-2084-78FC-9B85D1F6E6ED}"/>
              </a:ext>
            </a:extLst>
          </p:cNvPr>
          <p:cNvSpPr txBox="1"/>
          <p:nvPr/>
        </p:nvSpPr>
        <p:spPr>
          <a:xfrm>
            <a:off x="4540251" y="5070073"/>
            <a:ext cx="36418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NIR on green: 2020 more </a:t>
            </a:r>
            <a:r>
              <a:rPr lang="it-IT" sz="1400" dirty="0" err="1"/>
              <a:t>defined</a:t>
            </a:r>
            <a:r>
              <a:rPr lang="it-IT" sz="1400" dirty="0"/>
              <a:t> patches </a:t>
            </a:r>
          </a:p>
          <a:p>
            <a:r>
              <a:rPr lang="it-IT" sz="1400" dirty="0"/>
              <a:t>-&gt; </a:t>
            </a:r>
            <a:r>
              <a:rPr lang="it-IT" sz="1400" dirty="0" err="1"/>
              <a:t>Increased</a:t>
            </a:r>
            <a:r>
              <a:rPr lang="it-IT" sz="1400" dirty="0"/>
              <a:t> </a:t>
            </a:r>
            <a:r>
              <a:rPr lang="it-IT" sz="1400" dirty="0" err="1"/>
              <a:t>spatial</a:t>
            </a:r>
            <a:r>
              <a:rPr lang="it-IT" sz="1400" dirty="0"/>
              <a:t> </a:t>
            </a:r>
            <a:r>
              <a:rPr lang="it-IT" sz="1400" dirty="0" err="1"/>
              <a:t>contrast</a:t>
            </a:r>
            <a:r>
              <a:rPr lang="it-IT" sz="1400" dirty="0"/>
              <a:t>. </a:t>
            </a:r>
          </a:p>
          <a:p>
            <a:r>
              <a:rPr lang="it-IT" sz="1400" dirty="0"/>
              <a:t>The </a:t>
            </a:r>
            <a:r>
              <a:rPr lang="it-IT" sz="1400" dirty="0" err="1"/>
              <a:t>vegetation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more </a:t>
            </a:r>
            <a:r>
              <a:rPr lang="it-IT" sz="1400" dirty="0" err="1"/>
              <a:t>stressed</a:t>
            </a:r>
            <a:r>
              <a:rPr lang="it-IT" sz="1400" dirty="0"/>
              <a:t> or </a:t>
            </a:r>
            <a:r>
              <a:rPr lang="it-IT" sz="1400" dirty="0" err="1"/>
              <a:t>regrowing</a:t>
            </a:r>
            <a:r>
              <a:rPr lang="it-IT" sz="1400" dirty="0"/>
              <a:t>.</a:t>
            </a:r>
          </a:p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7AC6162-9DE0-4E41-C6F3-4B4F571BC8B0}"/>
              </a:ext>
            </a:extLst>
          </p:cNvPr>
          <p:cNvSpPr txBox="1"/>
          <p:nvPr/>
        </p:nvSpPr>
        <p:spPr>
          <a:xfrm>
            <a:off x="8420102" y="5105044"/>
            <a:ext cx="37718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NIR on blue: 2020 more </a:t>
            </a:r>
            <a:r>
              <a:rPr lang="it-IT" sz="1400" dirty="0" err="1"/>
              <a:t>landscape</a:t>
            </a:r>
            <a:r>
              <a:rPr lang="it-IT" sz="1400" dirty="0"/>
              <a:t> </a:t>
            </a:r>
            <a:r>
              <a:rPr lang="it-IT" sz="1400" dirty="0" err="1"/>
              <a:t>heterogeneity</a:t>
            </a:r>
            <a:r>
              <a:rPr lang="it-IT" sz="1400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4105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D5A0C9-3F21-8026-3CB0-ABA847A2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dirty="0"/>
              <a:t>Code for RGB plots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41F24E-BE9A-8EF5-5754-92D042BD5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3671"/>
            <a:ext cx="10515599" cy="524569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</a:t>
            </a:r>
            <a:r>
              <a:rPr lang="it-IT" sz="1200" dirty="0" err="1"/>
              <a:t>Extracting</a:t>
            </a:r>
            <a:r>
              <a:rPr lang="it-IT" sz="1200" dirty="0"/>
              <a:t> the </a:t>
            </a:r>
            <a:r>
              <a:rPr lang="it-IT" sz="1200" dirty="0" err="1"/>
              <a:t>bands</a:t>
            </a:r>
            <a:r>
              <a:rPr lang="it-IT" sz="1200" dirty="0"/>
              <a:t> from 2019 images. </a:t>
            </a:r>
            <a:r>
              <a:rPr lang="it-IT" sz="1200" dirty="0" err="1"/>
              <a:t>Useful</a:t>
            </a:r>
            <a:r>
              <a:rPr lang="it-IT" sz="1200" dirty="0"/>
              <a:t> to </a:t>
            </a:r>
            <a:r>
              <a:rPr lang="it-IT" sz="1200" dirty="0" err="1"/>
              <a:t>classify</a:t>
            </a:r>
            <a:r>
              <a:rPr lang="it-IT" sz="1200" dirty="0"/>
              <a:t> the </a:t>
            </a:r>
            <a:r>
              <a:rPr lang="it-IT" sz="1200" dirty="0" err="1"/>
              <a:t>objects</a:t>
            </a:r>
            <a:r>
              <a:rPr lang="it-IT" sz="1200" dirty="0"/>
              <a:t> and </a:t>
            </a:r>
            <a:r>
              <a:rPr lang="it-IT" sz="1200" dirty="0" err="1"/>
              <a:t>extract</a:t>
            </a:r>
            <a:r>
              <a:rPr lang="it-IT" sz="1200" dirty="0"/>
              <a:t> more information from the data.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From the TC image </a:t>
            </a:r>
            <a:r>
              <a:rPr lang="it-IT" sz="1200" dirty="0" err="1"/>
              <a:t>I'm</a:t>
            </a:r>
            <a:r>
              <a:rPr lang="it-IT" sz="1200" dirty="0"/>
              <a:t> </a:t>
            </a:r>
            <a:r>
              <a:rPr lang="it-IT" sz="1200" dirty="0" err="1"/>
              <a:t>taking</a:t>
            </a:r>
            <a:r>
              <a:rPr lang="it-IT" sz="1200" dirty="0"/>
              <a:t> the red (</a:t>
            </a:r>
            <a:r>
              <a:rPr lang="it-IT" sz="1200" dirty="0" err="1"/>
              <a:t>r</a:t>
            </a:r>
            <a:r>
              <a:rPr lang="it-IT" sz="1200" dirty="0"/>
              <a:t>), blue (b) and green (g) </a:t>
            </a:r>
            <a:r>
              <a:rPr lang="it-IT" sz="1200" dirty="0" err="1"/>
              <a:t>bands</a:t>
            </a:r>
            <a:r>
              <a:rPr lang="it-IT" sz="12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r19 &lt;- tc19[[1]]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g19 &lt;- tc19[[2]]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b19 &lt;- tc19[[3]]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From the FC image </a:t>
            </a:r>
            <a:r>
              <a:rPr lang="it-IT" sz="1200" dirty="0" err="1"/>
              <a:t>I'm</a:t>
            </a:r>
            <a:r>
              <a:rPr lang="it-IT" sz="1200" dirty="0"/>
              <a:t> </a:t>
            </a:r>
            <a:r>
              <a:rPr lang="it-IT" sz="1200" dirty="0" err="1"/>
              <a:t>taking</a:t>
            </a:r>
            <a:r>
              <a:rPr lang="it-IT" sz="1200" dirty="0"/>
              <a:t> the NIR band.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nir19 &lt;- fc19[[1]]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</a:t>
            </a:r>
            <a:r>
              <a:rPr lang="it-IT" sz="1200" dirty="0" err="1"/>
              <a:t>Combining</a:t>
            </a:r>
            <a:r>
              <a:rPr lang="it-IT" sz="1200" dirty="0"/>
              <a:t> the </a:t>
            </a:r>
            <a:r>
              <a:rPr lang="it-IT" sz="1200" dirty="0" err="1"/>
              <a:t>bands</a:t>
            </a:r>
            <a:r>
              <a:rPr lang="it-IT" sz="1200" dirty="0"/>
              <a:t> in a single </a:t>
            </a:r>
            <a:r>
              <a:rPr lang="it-IT" sz="1200" dirty="0" err="1"/>
              <a:t>object</a:t>
            </a:r>
            <a:r>
              <a:rPr lang="it-IT" sz="12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stack19 &lt;- c(r19, g19, b19, nir19)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</a:t>
            </a:r>
            <a:r>
              <a:rPr lang="it-IT" sz="1200" dirty="0" err="1"/>
              <a:t>Extracting</a:t>
            </a:r>
            <a:r>
              <a:rPr lang="it-IT" sz="1200" dirty="0"/>
              <a:t> the </a:t>
            </a:r>
            <a:r>
              <a:rPr lang="it-IT" sz="1200" dirty="0" err="1"/>
              <a:t>bands</a:t>
            </a:r>
            <a:r>
              <a:rPr lang="it-IT" sz="1200" dirty="0"/>
              <a:t> from 2020 images.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From the TC image </a:t>
            </a:r>
            <a:r>
              <a:rPr lang="it-IT" sz="1200" dirty="0" err="1"/>
              <a:t>I'm</a:t>
            </a:r>
            <a:r>
              <a:rPr lang="it-IT" sz="1200" dirty="0"/>
              <a:t> </a:t>
            </a:r>
            <a:r>
              <a:rPr lang="it-IT" sz="1200" dirty="0" err="1"/>
              <a:t>taking</a:t>
            </a:r>
            <a:r>
              <a:rPr lang="it-IT" sz="1200" dirty="0"/>
              <a:t> the red (</a:t>
            </a:r>
            <a:r>
              <a:rPr lang="it-IT" sz="1200" dirty="0" err="1"/>
              <a:t>r</a:t>
            </a:r>
            <a:r>
              <a:rPr lang="it-IT" sz="1200" dirty="0"/>
              <a:t>), blue (b) and green (g) </a:t>
            </a:r>
            <a:r>
              <a:rPr lang="it-IT" sz="1200" dirty="0" err="1"/>
              <a:t>bands</a:t>
            </a:r>
            <a:r>
              <a:rPr lang="it-IT" sz="12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r20 &lt;- tc20[[1]]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g20 &lt;- tc20[[2]]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b20 &lt;- tc20[[3]]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From the FC image </a:t>
            </a:r>
            <a:r>
              <a:rPr lang="it-IT" sz="1200" dirty="0" err="1"/>
              <a:t>I'm</a:t>
            </a:r>
            <a:r>
              <a:rPr lang="it-IT" sz="1200" dirty="0"/>
              <a:t> </a:t>
            </a:r>
            <a:r>
              <a:rPr lang="it-IT" sz="1200" dirty="0" err="1"/>
              <a:t>taking</a:t>
            </a:r>
            <a:r>
              <a:rPr lang="it-IT" sz="1200" dirty="0"/>
              <a:t> the NIR band.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nir20 &lt;- fc20[[1]]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# </a:t>
            </a:r>
            <a:r>
              <a:rPr lang="it-IT" sz="1200" dirty="0" err="1"/>
              <a:t>Combining</a:t>
            </a:r>
            <a:r>
              <a:rPr lang="it-IT" sz="1200" dirty="0"/>
              <a:t> the </a:t>
            </a:r>
            <a:r>
              <a:rPr lang="it-IT" sz="1200" dirty="0" err="1"/>
              <a:t>bands</a:t>
            </a:r>
            <a:r>
              <a:rPr lang="it-IT" sz="1200" dirty="0"/>
              <a:t> in a single </a:t>
            </a:r>
            <a:r>
              <a:rPr lang="it-IT" sz="1200" dirty="0" err="1"/>
              <a:t>object</a:t>
            </a:r>
            <a:r>
              <a:rPr lang="it-IT" sz="12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200" dirty="0"/>
              <a:t>stack20 &lt;- c(r20, g20, b20, nir20)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0553495-9CAE-AB0A-2CAA-876125BA5137}"/>
              </a:ext>
            </a:extLst>
          </p:cNvPr>
          <p:cNvSpPr txBox="1"/>
          <p:nvPr/>
        </p:nvSpPr>
        <p:spPr>
          <a:xfrm>
            <a:off x="838197" y="4739701"/>
            <a:ext cx="3485609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200" dirty="0"/>
              <a:t># </a:t>
            </a:r>
            <a:r>
              <a:rPr lang="it-IT" sz="1200" dirty="0" err="1"/>
              <a:t>Visualizing</a:t>
            </a:r>
            <a:r>
              <a:rPr lang="it-IT" sz="1200" dirty="0"/>
              <a:t> the images with </a:t>
            </a:r>
            <a:r>
              <a:rPr lang="it-IT" sz="1200" dirty="0" err="1"/>
              <a:t>different</a:t>
            </a:r>
            <a:r>
              <a:rPr lang="it-IT" sz="1200" dirty="0"/>
              <a:t> colors:</a:t>
            </a:r>
          </a:p>
          <a:p>
            <a:r>
              <a:rPr lang="it-IT" sz="1200" dirty="0"/>
              <a:t>par(</a:t>
            </a:r>
            <a:r>
              <a:rPr lang="it-IT" sz="1200" dirty="0" err="1"/>
              <a:t>mfrow</a:t>
            </a:r>
            <a:r>
              <a:rPr lang="it-IT" sz="1200" dirty="0"/>
              <a:t>=c(3,2))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(stack19, </a:t>
            </a:r>
            <a:r>
              <a:rPr lang="it-IT" sz="1200" dirty="0" err="1"/>
              <a:t>r</a:t>
            </a:r>
            <a:r>
              <a:rPr lang="it-IT" sz="1200" dirty="0"/>
              <a:t>=4, g=2, b=3) 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(stack19, </a:t>
            </a:r>
            <a:r>
              <a:rPr lang="it-IT" sz="1200" dirty="0" err="1"/>
              <a:t>r</a:t>
            </a:r>
            <a:r>
              <a:rPr lang="it-IT" sz="1200" dirty="0"/>
              <a:t>=1, g=4, b=3) 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(stack19, </a:t>
            </a:r>
            <a:r>
              <a:rPr lang="it-IT" sz="1200" dirty="0" err="1"/>
              <a:t>r</a:t>
            </a:r>
            <a:r>
              <a:rPr lang="it-IT" sz="1200" dirty="0"/>
              <a:t>=1, g=2, b=4)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(stack20, </a:t>
            </a:r>
            <a:r>
              <a:rPr lang="it-IT" sz="1200" dirty="0" err="1"/>
              <a:t>r</a:t>
            </a:r>
            <a:r>
              <a:rPr lang="it-IT" sz="1200" dirty="0"/>
              <a:t>=4, g=2, b=3) 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(stack20, </a:t>
            </a:r>
            <a:r>
              <a:rPr lang="it-IT" sz="1200" dirty="0" err="1"/>
              <a:t>r</a:t>
            </a:r>
            <a:r>
              <a:rPr lang="it-IT" sz="1200" dirty="0"/>
              <a:t>=1, g=4, b=3) </a:t>
            </a:r>
          </a:p>
          <a:p>
            <a:r>
              <a:rPr lang="it-IT" sz="1200" dirty="0" err="1"/>
              <a:t>im.plotRGB</a:t>
            </a:r>
            <a:r>
              <a:rPr lang="it-IT" sz="1200" dirty="0"/>
              <a:t>(stack20, </a:t>
            </a:r>
            <a:r>
              <a:rPr lang="it-IT" sz="1200" dirty="0" err="1"/>
              <a:t>r</a:t>
            </a:r>
            <a:r>
              <a:rPr lang="it-IT" sz="1200" dirty="0"/>
              <a:t>=1, g=2, b=4)</a:t>
            </a:r>
          </a:p>
        </p:txBody>
      </p:sp>
    </p:spTree>
    <p:extLst>
      <p:ext uri="{BB962C8B-B14F-4D97-AF65-F5344CB8AC3E}">
        <p14:creationId xmlns:p14="http://schemas.microsoft.com/office/powerpoint/2010/main" val="1750279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44155-B172-44F9-2C05-19FDA6D0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Vegetation</a:t>
            </a:r>
            <a:r>
              <a:rPr lang="it-IT" b="1" dirty="0"/>
              <a:t> Health Index</a:t>
            </a:r>
            <a:br>
              <a:rPr lang="it-IT" b="1" dirty="0"/>
            </a:br>
            <a:r>
              <a:rPr lang="it-IT" b="1" dirty="0"/>
              <a:t>DVI = NIR -red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27BB5C-8247-943D-8726-7774474E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15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- </a:t>
            </a:r>
            <a:r>
              <a:rPr lang="it-IT" sz="2000" b="1" dirty="0" err="1"/>
              <a:t>Decrease</a:t>
            </a:r>
            <a:r>
              <a:rPr lang="it-IT" sz="2000" dirty="0"/>
              <a:t> </a:t>
            </a:r>
            <a:r>
              <a:rPr lang="it-IT" sz="2000" b="1" dirty="0"/>
              <a:t>in minimum range </a:t>
            </a:r>
            <a:r>
              <a:rPr lang="it-IT" sz="2000" dirty="0"/>
              <a:t>in 2020 (-90). </a:t>
            </a:r>
            <a:r>
              <a:rPr lang="it-IT" sz="2000" dirty="0" err="1"/>
              <a:t>This</a:t>
            </a:r>
            <a:r>
              <a:rPr lang="it-IT" sz="2000" dirty="0"/>
              <a:t> </a:t>
            </a:r>
            <a:r>
              <a:rPr lang="it-IT" sz="2000" dirty="0" err="1"/>
              <a:t>indicates</a:t>
            </a:r>
            <a:r>
              <a:rPr lang="it-IT" sz="2000" dirty="0"/>
              <a:t> </a:t>
            </a:r>
            <a:r>
              <a:rPr lang="it-IT" sz="2000" dirty="0" err="1"/>
              <a:t>areas</a:t>
            </a:r>
            <a:r>
              <a:rPr lang="it-IT" sz="2000" dirty="0"/>
              <a:t> </a:t>
            </a:r>
            <a:r>
              <a:rPr lang="it-IT" sz="2000" dirty="0" err="1"/>
              <a:t>where</a:t>
            </a:r>
            <a:r>
              <a:rPr lang="it-IT" sz="2000" dirty="0"/>
              <a:t> red </a:t>
            </a:r>
            <a:r>
              <a:rPr lang="it-IT" sz="2000" dirty="0" err="1"/>
              <a:t>reflectance</a:t>
            </a:r>
            <a:r>
              <a:rPr lang="it-IT" sz="2000" dirty="0"/>
              <a:t> </a:t>
            </a:r>
            <a:r>
              <a:rPr lang="it-IT" sz="2000" dirty="0" err="1"/>
              <a:t>exceed</a:t>
            </a:r>
            <a:r>
              <a:rPr lang="it-IT" sz="2000" dirty="0"/>
              <a:t> the NIR </a:t>
            </a:r>
            <a:r>
              <a:rPr lang="it-IT" sz="2000" dirty="0" err="1"/>
              <a:t>reflectance</a:t>
            </a:r>
            <a:r>
              <a:rPr lang="it-IT" sz="2000" dirty="0"/>
              <a:t>, a clear </a:t>
            </a:r>
            <a:r>
              <a:rPr lang="it-IT" sz="2000" dirty="0" err="1"/>
              <a:t>sign</a:t>
            </a:r>
            <a:r>
              <a:rPr lang="it-IT" sz="2000" dirty="0"/>
              <a:t> of </a:t>
            </a:r>
            <a:r>
              <a:rPr lang="it-IT" sz="2000" dirty="0" err="1"/>
              <a:t>clorophyll</a:t>
            </a:r>
            <a:r>
              <a:rPr lang="it-IT" sz="2000" dirty="0"/>
              <a:t> </a:t>
            </a:r>
            <a:r>
              <a:rPr lang="it-IT" sz="2000" dirty="0" err="1"/>
              <a:t>loss</a:t>
            </a:r>
            <a:r>
              <a:rPr lang="it-IT" sz="2000" dirty="0"/>
              <a:t>: with </a:t>
            </a:r>
            <a:r>
              <a:rPr lang="it-IT" sz="2000" dirty="0" err="1"/>
              <a:t>less</a:t>
            </a:r>
            <a:r>
              <a:rPr lang="it-IT" sz="2000" dirty="0"/>
              <a:t> </a:t>
            </a:r>
            <a:r>
              <a:rPr lang="it-IT" sz="2000" dirty="0" err="1"/>
              <a:t>photosynthesis</a:t>
            </a:r>
            <a:r>
              <a:rPr lang="it-IT" sz="2000" dirty="0"/>
              <a:t>, red </a:t>
            </a:r>
            <a:r>
              <a:rPr lang="it-IT" sz="2000" dirty="0" err="1"/>
              <a:t>wavelengths</a:t>
            </a:r>
            <a:r>
              <a:rPr lang="it-IT" sz="2000" dirty="0"/>
              <a:t> are </a:t>
            </a:r>
            <a:r>
              <a:rPr lang="it-IT" sz="2000" dirty="0" err="1"/>
              <a:t>less</a:t>
            </a:r>
            <a:r>
              <a:rPr lang="it-IT" sz="2000" dirty="0"/>
              <a:t> </a:t>
            </a:r>
            <a:r>
              <a:rPr lang="it-IT" sz="2000" dirty="0" err="1"/>
              <a:t>absorbed</a:t>
            </a:r>
            <a:r>
              <a:rPr lang="it-IT" sz="2000" dirty="0"/>
              <a:t> and so </a:t>
            </a:r>
            <a:r>
              <a:rPr lang="it-IT" sz="2000" dirty="0" err="1"/>
              <a:t>vegetation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less</a:t>
            </a:r>
            <a:r>
              <a:rPr lang="it-IT" sz="2000" dirty="0"/>
              <a:t> or </a:t>
            </a:r>
            <a:r>
              <a:rPr lang="it-IT" sz="2000" dirty="0" err="1"/>
              <a:t>stressed</a:t>
            </a:r>
            <a:r>
              <a:rPr lang="it-IT" sz="2000" dirty="0"/>
              <a:t>. </a:t>
            </a:r>
          </a:p>
          <a:p>
            <a:pPr marL="0" indent="0">
              <a:buNone/>
            </a:pPr>
            <a:r>
              <a:rPr lang="it-IT" sz="2000" dirty="0"/>
              <a:t>- </a:t>
            </a:r>
            <a:r>
              <a:rPr lang="it-IT" sz="2000" b="1" dirty="0" err="1"/>
              <a:t>Higher</a:t>
            </a:r>
            <a:r>
              <a:rPr lang="it-IT" sz="2000" b="1" dirty="0"/>
              <a:t> maximum </a:t>
            </a:r>
            <a:r>
              <a:rPr lang="it-IT" sz="2000" b="1" dirty="0" err="1"/>
              <a:t>value</a:t>
            </a:r>
            <a:r>
              <a:rPr lang="it-IT" sz="2000" dirty="0"/>
              <a:t> in 2020 (200), </a:t>
            </a:r>
            <a:r>
              <a:rPr lang="it-IT" sz="2000" dirty="0" err="1"/>
              <a:t>it's</a:t>
            </a:r>
            <a:r>
              <a:rPr lang="it-IT" sz="2000" dirty="0"/>
              <a:t> </a:t>
            </a:r>
            <a:r>
              <a:rPr lang="it-IT" sz="2000" dirty="0" err="1"/>
              <a:t>likely</a:t>
            </a:r>
            <a:r>
              <a:rPr lang="it-IT" sz="2000" dirty="0"/>
              <a:t> </a:t>
            </a:r>
            <a:r>
              <a:rPr lang="it-IT" sz="2000" dirty="0" err="1"/>
              <a:t>not</a:t>
            </a:r>
            <a:r>
              <a:rPr lang="it-IT" sz="2000" dirty="0"/>
              <a:t> due to </a:t>
            </a:r>
            <a:r>
              <a:rPr lang="it-IT" sz="2000" dirty="0" err="1"/>
              <a:t>better</a:t>
            </a:r>
            <a:r>
              <a:rPr lang="it-IT" sz="2000" dirty="0"/>
              <a:t> </a:t>
            </a:r>
            <a:r>
              <a:rPr lang="it-IT" sz="2000" dirty="0" err="1"/>
              <a:t>vegetation</a:t>
            </a:r>
            <a:r>
              <a:rPr lang="it-IT" sz="2000" dirty="0"/>
              <a:t>, </a:t>
            </a:r>
            <a:r>
              <a:rPr lang="it-IT" sz="2000" dirty="0" err="1"/>
              <a:t>but</a:t>
            </a:r>
            <a:r>
              <a:rPr lang="it-IT" sz="2000" dirty="0"/>
              <a:t> </a:t>
            </a:r>
            <a:r>
              <a:rPr lang="it-IT" sz="2000" dirty="0" err="1"/>
              <a:t>rather</a:t>
            </a:r>
            <a:r>
              <a:rPr lang="it-IT" sz="2000" dirty="0"/>
              <a:t> to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atmospheric</a:t>
            </a:r>
            <a:r>
              <a:rPr lang="it-IT" sz="2000" dirty="0"/>
              <a:t> </a:t>
            </a:r>
            <a:r>
              <a:rPr lang="it-IT" sz="2000" dirty="0" err="1"/>
              <a:t>illumination</a:t>
            </a:r>
            <a:r>
              <a:rPr lang="it-IT" sz="2000" dirty="0"/>
              <a:t> or the high overall </a:t>
            </a:r>
            <a:r>
              <a:rPr lang="it-IT" sz="2000" dirty="0" err="1"/>
              <a:t>reflectance</a:t>
            </a:r>
            <a:r>
              <a:rPr lang="it-IT" sz="2000" dirty="0"/>
              <a:t> of </a:t>
            </a:r>
            <a:r>
              <a:rPr lang="it-IT" sz="2000" dirty="0" err="1"/>
              <a:t>exposed</a:t>
            </a:r>
            <a:r>
              <a:rPr lang="it-IT" sz="2000" dirty="0"/>
              <a:t> bare rocks or </a:t>
            </a:r>
            <a:r>
              <a:rPr lang="it-IT" sz="2000" dirty="0" err="1"/>
              <a:t>soil</a:t>
            </a:r>
            <a:r>
              <a:rPr lang="it-IT" sz="2000" dirty="0"/>
              <a:t>, </a:t>
            </a:r>
            <a:r>
              <a:rPr lang="it-IT" sz="2000" dirty="0" err="1"/>
              <a:t>which</a:t>
            </a:r>
            <a:r>
              <a:rPr lang="it-IT" sz="2000" dirty="0"/>
              <a:t> can </a:t>
            </a:r>
            <a:r>
              <a:rPr lang="it-IT" sz="2000" dirty="0" err="1"/>
              <a:t>reflect</a:t>
            </a:r>
            <a:r>
              <a:rPr lang="it-IT" sz="2000" dirty="0"/>
              <a:t> </a:t>
            </a:r>
            <a:r>
              <a:rPr lang="it-IT" sz="2000" dirty="0" err="1"/>
              <a:t>strongly</a:t>
            </a:r>
            <a:r>
              <a:rPr lang="it-IT" sz="2000" dirty="0"/>
              <a:t> </a:t>
            </a:r>
            <a:r>
              <a:rPr lang="it-IT" sz="2000" dirty="0" err="1"/>
              <a:t>across</a:t>
            </a:r>
            <a:r>
              <a:rPr lang="it-IT" sz="2000" dirty="0"/>
              <a:t> the </a:t>
            </a:r>
            <a:r>
              <a:rPr lang="it-IT" sz="2000" dirty="0" err="1"/>
              <a:t>entire</a:t>
            </a:r>
            <a:r>
              <a:rPr lang="it-IT" sz="2000" dirty="0"/>
              <a:t> </a:t>
            </a:r>
            <a:r>
              <a:rPr lang="it-IT" sz="2000" dirty="0" err="1"/>
              <a:t>spectrum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DVI </a:t>
            </a:r>
            <a:r>
              <a:rPr lang="it-IT" sz="2000" dirty="0" err="1"/>
              <a:t>consent</a:t>
            </a:r>
            <a:r>
              <a:rPr lang="it-IT" sz="2000" dirty="0"/>
              <a:t> to </a:t>
            </a:r>
            <a:r>
              <a:rPr lang="it-IT" sz="2000" dirty="0" err="1"/>
              <a:t>observe</a:t>
            </a:r>
            <a:r>
              <a:rPr lang="it-IT" sz="2000" dirty="0"/>
              <a:t> the </a:t>
            </a:r>
            <a:r>
              <a:rPr lang="it-IT" sz="2000" dirty="0" err="1"/>
              <a:t>raw</a:t>
            </a:r>
            <a:r>
              <a:rPr lang="it-IT" sz="2000" dirty="0"/>
              <a:t> </a:t>
            </a:r>
            <a:r>
              <a:rPr lang="it-IT" sz="2000" dirty="0" err="1"/>
              <a:t>physical</a:t>
            </a:r>
            <a:r>
              <a:rPr lang="it-IT" sz="2000" dirty="0"/>
              <a:t> </a:t>
            </a:r>
            <a:r>
              <a:rPr lang="it-IT" sz="2000" dirty="0" err="1"/>
              <a:t>behavior</a:t>
            </a:r>
            <a:r>
              <a:rPr lang="it-IT" sz="2000" dirty="0"/>
              <a:t> of the </a:t>
            </a:r>
            <a:r>
              <a:rPr lang="it-IT" sz="2000" dirty="0" err="1"/>
              <a:t>spectral</a:t>
            </a:r>
            <a:r>
              <a:rPr lang="it-IT" sz="2000" dirty="0"/>
              <a:t> of the NIR-red </a:t>
            </a:r>
            <a:r>
              <a:rPr lang="it-IT" sz="2000" dirty="0" err="1"/>
              <a:t>bands</a:t>
            </a:r>
            <a:r>
              <a:rPr lang="it-IT" sz="2000" dirty="0"/>
              <a:t> and the </a:t>
            </a:r>
            <a:r>
              <a:rPr lang="it-IT" sz="2000" dirty="0" err="1"/>
              <a:t>direct</a:t>
            </a:r>
            <a:r>
              <a:rPr lang="it-IT" sz="2000" dirty="0"/>
              <a:t> </a:t>
            </a:r>
            <a:r>
              <a:rPr lang="it-IT" sz="2000" dirty="0" err="1"/>
              <a:t>loss</a:t>
            </a:r>
            <a:r>
              <a:rPr lang="it-IT" sz="2000" dirty="0"/>
              <a:t> of </a:t>
            </a:r>
            <a:r>
              <a:rPr lang="it-IT" sz="2000" dirty="0" err="1"/>
              <a:t>photosynthetic</a:t>
            </a:r>
            <a:r>
              <a:rPr lang="it-IT" sz="2000" dirty="0"/>
              <a:t> </a:t>
            </a:r>
            <a:r>
              <a:rPr lang="it-IT" sz="2000" dirty="0" err="1"/>
              <a:t>efficiency</a:t>
            </a:r>
            <a:r>
              <a:rPr lang="it-IT" sz="2000" dirty="0"/>
              <a:t>. NDVI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essential</a:t>
            </a:r>
            <a:r>
              <a:rPr lang="it-IT" sz="2000" dirty="0"/>
              <a:t> to </a:t>
            </a:r>
            <a:r>
              <a:rPr lang="it-IT" sz="2000" dirty="0" err="1"/>
              <a:t>normalize</a:t>
            </a:r>
            <a:r>
              <a:rPr lang="it-IT" sz="2000" dirty="0"/>
              <a:t> the data by filtering out </a:t>
            </a:r>
            <a:r>
              <a:rPr lang="it-IT" sz="2000" dirty="0" err="1"/>
              <a:t>potential</a:t>
            </a:r>
            <a:r>
              <a:rPr lang="it-IT" sz="2000" dirty="0"/>
              <a:t> "</a:t>
            </a:r>
            <a:r>
              <a:rPr lang="it-IT" sz="2000" dirty="0" err="1"/>
              <a:t>noise</a:t>
            </a:r>
            <a:r>
              <a:rPr lang="it-IT" sz="2000" dirty="0"/>
              <a:t>" </a:t>
            </a:r>
            <a:r>
              <a:rPr lang="it-IT" sz="2000" dirty="0" err="1"/>
              <a:t>caused</a:t>
            </a:r>
            <a:r>
              <a:rPr lang="it-IT" sz="2000" dirty="0"/>
              <a:t> by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illumination</a:t>
            </a:r>
            <a:r>
              <a:rPr lang="it-IT" sz="2000" dirty="0"/>
              <a:t> or </a:t>
            </a:r>
            <a:r>
              <a:rPr lang="it-IT" sz="2000" dirty="0" err="1"/>
              <a:t>atmospheric</a:t>
            </a:r>
            <a:r>
              <a:rPr lang="it-IT" sz="2000" dirty="0"/>
              <a:t> </a:t>
            </a:r>
            <a:r>
              <a:rPr lang="it-IT" sz="2000" dirty="0" err="1"/>
              <a:t>conditions</a:t>
            </a:r>
            <a:r>
              <a:rPr lang="it-IT" sz="2000" dirty="0"/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EEE7AA-D95F-AC81-CD4D-20F2D58884B0}"/>
              </a:ext>
            </a:extLst>
          </p:cNvPr>
          <p:cNvSpPr txBox="1"/>
          <p:nvPr/>
        </p:nvSpPr>
        <p:spPr>
          <a:xfrm>
            <a:off x="838200" y="1866701"/>
            <a:ext cx="4470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2019: DVI range covers from -75 to 179. </a:t>
            </a:r>
          </a:p>
          <a:p>
            <a:pPr marL="0" indent="0">
              <a:buNone/>
            </a:pPr>
            <a:r>
              <a:rPr lang="it-IT" sz="2000" dirty="0">
                <a:solidFill>
                  <a:srgbClr val="FF0000"/>
                </a:solidFill>
              </a:rPr>
              <a:t>2020: DVI range covers from -90 to 200.</a:t>
            </a:r>
          </a:p>
          <a:p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63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7D8C43-44B4-BE32-CEB0-9CBF010D6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Vegetation</a:t>
            </a:r>
            <a:r>
              <a:rPr lang="it-IT" b="1" dirty="0"/>
              <a:t> Health Index</a:t>
            </a:r>
            <a:br>
              <a:rPr lang="it-IT" b="1" dirty="0"/>
            </a:br>
            <a:r>
              <a:rPr lang="it-IT" b="1" dirty="0"/>
              <a:t>NDVI</a:t>
            </a:r>
            <a:endParaRPr lang="it-IT" dirty="0"/>
          </a:p>
        </p:txBody>
      </p:sp>
      <p:pic>
        <p:nvPicPr>
          <p:cNvPr id="9" name="Segnaposto contenuto 8" descr="Immagine che contiene testo, mappa, schermata&#10;&#10;Descrizione generata automaticamente">
            <a:extLst>
              <a:ext uri="{FF2B5EF4-FFF2-40B4-BE49-F238E27FC236}">
                <a16:creationId xmlns:a16="http://schemas.microsoft.com/office/drawing/2014/main" id="{0ADDD4A5-97DF-9FE7-9EFB-4FF04A3ED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19237"/>
            <a:ext cx="4657725" cy="5328645"/>
          </a:xfrm>
        </p:spPr>
      </p:pic>
      <p:pic>
        <p:nvPicPr>
          <p:cNvPr id="11" name="Immagine 10" descr="Immagine che contiene testo, schermata&#10;&#10;Descrizione generata automaticamente">
            <a:extLst>
              <a:ext uri="{FF2B5EF4-FFF2-40B4-BE49-F238E27FC236}">
                <a16:creationId xmlns:a16="http://schemas.microsoft.com/office/drawing/2014/main" id="{1CE0103D-C15A-33A5-DA45-25B10915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059" y="2107109"/>
            <a:ext cx="3779881" cy="432435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A5128F1-8EAF-524B-346C-F93C6997D8AA}"/>
              </a:ext>
            </a:extLst>
          </p:cNvPr>
          <p:cNvSpPr txBox="1"/>
          <p:nvPr/>
        </p:nvSpPr>
        <p:spPr>
          <a:xfrm>
            <a:off x="7729538" y="1257300"/>
            <a:ext cx="4462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2019</a:t>
            </a:r>
            <a:r>
              <a:rPr lang="it-IT" dirty="0"/>
              <a:t>: </a:t>
            </a:r>
            <a:r>
              <a:rPr lang="it-IT" dirty="0" err="1"/>
              <a:t>mean</a:t>
            </a:r>
            <a:r>
              <a:rPr lang="it-IT" dirty="0"/>
              <a:t> </a:t>
            </a:r>
            <a:r>
              <a:rPr lang="it-IT" dirty="0" err="1"/>
              <a:t>elevated</a:t>
            </a:r>
            <a:r>
              <a:rPr lang="it-IT" dirty="0"/>
              <a:t> and </a:t>
            </a:r>
            <a:r>
              <a:rPr lang="it-IT" dirty="0" err="1"/>
              <a:t>homogeneous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consistency</a:t>
            </a:r>
            <a:r>
              <a:rPr lang="it-IT" dirty="0"/>
              <a:t> </a:t>
            </a:r>
            <a:r>
              <a:rPr lang="it-IT" dirty="0" err="1"/>
              <a:t>along</a:t>
            </a:r>
            <a:r>
              <a:rPr lang="it-IT" dirty="0"/>
              <a:t> </a:t>
            </a:r>
            <a:r>
              <a:rPr lang="it-IT" dirty="0" err="1"/>
              <a:t>valleys</a:t>
            </a:r>
            <a:r>
              <a:rPr lang="it-IT" dirty="0"/>
              <a:t> and </a:t>
            </a:r>
            <a:r>
              <a:rPr lang="it-IT" dirty="0" err="1"/>
              <a:t>slopes</a:t>
            </a:r>
            <a:r>
              <a:rPr lang="it-IT" dirty="0"/>
              <a:t>. </a:t>
            </a:r>
            <a:r>
              <a:rPr lang="it-IT" dirty="0" err="1"/>
              <a:t>Structurally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landscape</a:t>
            </a:r>
            <a:r>
              <a:rPr lang="it-IT" dirty="0"/>
              <a:t>.</a:t>
            </a:r>
          </a:p>
          <a:p>
            <a:r>
              <a:rPr lang="it-IT" dirty="0">
                <a:solidFill>
                  <a:srgbClr val="FF0000"/>
                </a:solidFill>
              </a:rPr>
              <a:t>2020</a:t>
            </a:r>
            <a:r>
              <a:rPr lang="it-IT" dirty="0"/>
              <a:t>: </a:t>
            </a:r>
            <a:r>
              <a:rPr lang="it-IT" dirty="0" err="1"/>
              <a:t>generalized</a:t>
            </a:r>
            <a:r>
              <a:rPr lang="it-IT" dirty="0"/>
              <a:t> </a:t>
            </a:r>
            <a:r>
              <a:rPr lang="it-IT" dirty="0" err="1"/>
              <a:t>diminution</a:t>
            </a:r>
            <a:r>
              <a:rPr lang="it-IT" dirty="0"/>
              <a:t> of NDVI </a:t>
            </a:r>
            <a:r>
              <a:rPr lang="it-IT" dirty="0" err="1"/>
              <a:t>values</a:t>
            </a:r>
            <a:r>
              <a:rPr lang="it-IT" dirty="0"/>
              <a:t>, large </a:t>
            </a:r>
            <a:r>
              <a:rPr lang="it-IT" dirty="0" err="1"/>
              <a:t>areas</a:t>
            </a:r>
            <a:r>
              <a:rPr lang="it-IT" dirty="0"/>
              <a:t> with low NDVI. Pattern more </a:t>
            </a:r>
            <a:r>
              <a:rPr lang="it-IT" dirty="0" err="1"/>
              <a:t>fragmented</a:t>
            </a:r>
            <a:r>
              <a:rPr lang="it-IT" dirty="0"/>
              <a:t> and more </a:t>
            </a:r>
            <a:r>
              <a:rPr lang="it-IT" dirty="0" err="1"/>
              <a:t>evident</a:t>
            </a:r>
            <a:r>
              <a:rPr lang="it-IT" dirty="0"/>
              <a:t> </a:t>
            </a:r>
            <a:r>
              <a:rPr lang="it-IT" dirty="0" err="1"/>
              <a:t>contrast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 patches. </a:t>
            </a:r>
            <a:r>
              <a:rPr lang="it-IT" dirty="0" err="1"/>
              <a:t>Caused</a:t>
            </a:r>
            <a:r>
              <a:rPr lang="it-IT" dirty="0"/>
              <a:t> by the </a:t>
            </a:r>
            <a:r>
              <a:rPr lang="it-IT" dirty="0" err="1"/>
              <a:t>loss</a:t>
            </a:r>
            <a:r>
              <a:rPr lang="it-IT" dirty="0"/>
              <a:t> of </a:t>
            </a:r>
            <a:r>
              <a:rPr lang="it-IT" dirty="0" err="1"/>
              <a:t>biomass</a:t>
            </a:r>
            <a:r>
              <a:rPr lang="it-IT" dirty="0"/>
              <a:t>, by the </a:t>
            </a:r>
            <a:r>
              <a:rPr lang="it-IT" dirty="0" err="1"/>
              <a:t>vegetation's</a:t>
            </a:r>
            <a:r>
              <a:rPr lang="it-IT" dirty="0"/>
              <a:t> stress and by the </a:t>
            </a:r>
            <a:r>
              <a:rPr lang="it-IT" dirty="0" err="1"/>
              <a:t>disomogeneous</a:t>
            </a:r>
            <a:r>
              <a:rPr lang="it-IT" dirty="0"/>
              <a:t> </a:t>
            </a:r>
            <a:r>
              <a:rPr lang="it-IT" dirty="0" err="1"/>
              <a:t>effects</a:t>
            </a:r>
            <a:r>
              <a:rPr lang="it-IT" dirty="0"/>
              <a:t> of </a:t>
            </a:r>
            <a:r>
              <a:rPr lang="it-IT" dirty="0" err="1"/>
              <a:t>fire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pre-fire</a:t>
            </a:r>
            <a:r>
              <a:rPr lang="it-IT" dirty="0"/>
              <a:t> NDVI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appear</a:t>
            </a:r>
            <a:r>
              <a:rPr lang="it-IT" dirty="0"/>
              <a:t> </a:t>
            </a:r>
            <a:r>
              <a:rPr lang="it-IT" dirty="0" err="1"/>
              <a:t>relatively</a:t>
            </a:r>
            <a:r>
              <a:rPr lang="it-IT" dirty="0"/>
              <a:t> high and </a:t>
            </a:r>
            <a:r>
              <a:rPr lang="it-IT" dirty="0" err="1"/>
              <a:t>spatially</a:t>
            </a:r>
            <a:r>
              <a:rPr lang="it-IT" dirty="0"/>
              <a:t> </a:t>
            </a:r>
            <a:r>
              <a:rPr lang="it-IT" dirty="0" err="1"/>
              <a:t>continuous</a:t>
            </a:r>
            <a:r>
              <a:rPr lang="it-IT" dirty="0"/>
              <a:t>, post-</a:t>
            </a:r>
            <a:r>
              <a:rPr lang="it-IT" dirty="0" err="1"/>
              <a:t>fire</a:t>
            </a:r>
            <a:r>
              <a:rPr lang="it-IT" dirty="0"/>
              <a:t> </a:t>
            </a:r>
            <a:r>
              <a:rPr lang="it-IT" dirty="0" err="1"/>
              <a:t>conditions</a:t>
            </a:r>
            <a:r>
              <a:rPr lang="it-IT" dirty="0"/>
              <a:t> are </a:t>
            </a:r>
            <a:r>
              <a:rPr lang="it-IT" dirty="0" err="1"/>
              <a:t>characterized</a:t>
            </a:r>
            <a:r>
              <a:rPr lang="it-IT" dirty="0"/>
              <a:t> by </a:t>
            </a:r>
            <a:r>
              <a:rPr lang="it-IT" dirty="0" err="1"/>
              <a:t>reduced</a:t>
            </a:r>
            <a:r>
              <a:rPr lang="it-IT" dirty="0"/>
              <a:t> NDVI and a </a:t>
            </a:r>
            <a:r>
              <a:rPr lang="it-IT" dirty="0" err="1"/>
              <a:t>fragmented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pattern, </a:t>
            </a:r>
            <a:r>
              <a:rPr lang="it-IT" dirty="0" err="1"/>
              <a:t>reflecting</a:t>
            </a:r>
            <a:r>
              <a:rPr lang="it-IT" dirty="0"/>
              <a:t> </a:t>
            </a:r>
            <a:r>
              <a:rPr lang="it-IT" dirty="0" err="1"/>
              <a:t>heterogeneous</a:t>
            </a:r>
            <a:r>
              <a:rPr lang="it-IT" dirty="0"/>
              <a:t> </a:t>
            </a:r>
            <a:r>
              <a:rPr lang="it-IT" dirty="0" err="1"/>
              <a:t>vegetation</a:t>
            </a:r>
            <a:r>
              <a:rPr lang="it-IT" dirty="0"/>
              <a:t> </a:t>
            </a:r>
            <a:r>
              <a:rPr lang="it-IT" dirty="0" err="1"/>
              <a:t>damage</a:t>
            </a:r>
            <a:r>
              <a:rPr lang="it-IT" dirty="0"/>
              <a:t> and </a:t>
            </a:r>
            <a:r>
              <a:rPr lang="it-IT" dirty="0" err="1"/>
              <a:t>early</a:t>
            </a:r>
            <a:r>
              <a:rPr lang="it-IT" dirty="0"/>
              <a:t> recovery </a:t>
            </a:r>
            <a:r>
              <a:rPr lang="it-IT" dirty="0" err="1"/>
              <a:t>processes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5823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F87205-FB73-B8F9-4BB2-82380009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 b="1" dirty="0"/>
              <a:t>Code for NDVI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4475D3-E245-F8C6-006D-04C56566D3D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it-IT" dirty="0"/>
              <a:t>ndvi19 &lt;- (nir19 - r19)/(nir19 + r19)</a:t>
            </a:r>
          </a:p>
          <a:p>
            <a:pPr marL="0" indent="0">
              <a:buNone/>
            </a:pPr>
            <a:r>
              <a:rPr lang="it-IT" dirty="0"/>
              <a:t>ndvi20 &lt;- (nir20 - r20)/(nir20 + r20)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par(</a:t>
            </a:r>
            <a:r>
              <a:rPr lang="it-IT" dirty="0" err="1"/>
              <a:t>mfrow</a:t>
            </a:r>
            <a:r>
              <a:rPr lang="it-IT" dirty="0"/>
              <a:t>=c(3,1))</a:t>
            </a:r>
          </a:p>
          <a:p>
            <a:pPr marL="0" indent="0">
              <a:buNone/>
            </a:pPr>
            <a:r>
              <a:rPr lang="it-IT" dirty="0"/>
              <a:t>plot(ndvi19, col=</a:t>
            </a:r>
            <a:r>
              <a:rPr lang="it-IT" dirty="0" err="1"/>
              <a:t>viridis</a:t>
            </a:r>
            <a:r>
              <a:rPr lang="it-IT" dirty="0"/>
              <a:t>(100), </a:t>
            </a:r>
            <a:r>
              <a:rPr lang="it-IT" dirty="0" err="1"/>
              <a:t>main</a:t>
            </a:r>
            <a:r>
              <a:rPr lang="it-IT" dirty="0"/>
              <a:t>="NDVI 2019")</a:t>
            </a:r>
          </a:p>
          <a:p>
            <a:pPr marL="0" indent="0">
              <a:buNone/>
            </a:pPr>
            <a:r>
              <a:rPr lang="it-IT" dirty="0"/>
              <a:t>plot(ndvi20, col=</a:t>
            </a:r>
            <a:r>
              <a:rPr lang="it-IT" dirty="0" err="1"/>
              <a:t>viridis</a:t>
            </a:r>
            <a:r>
              <a:rPr lang="it-IT" dirty="0"/>
              <a:t>(100), </a:t>
            </a:r>
            <a:r>
              <a:rPr lang="it-IT" dirty="0" err="1"/>
              <a:t>main</a:t>
            </a:r>
            <a:r>
              <a:rPr lang="it-IT" dirty="0"/>
              <a:t>="NDVI 2020")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ndvi_diff</a:t>
            </a:r>
            <a:r>
              <a:rPr lang="it-IT" dirty="0"/>
              <a:t> &lt;- ndvi19 - ndvi20</a:t>
            </a:r>
          </a:p>
          <a:p>
            <a:pPr marL="0" indent="0">
              <a:buNone/>
            </a:pPr>
            <a:r>
              <a:rPr lang="it-IT" dirty="0"/>
              <a:t>plot(</a:t>
            </a:r>
            <a:r>
              <a:rPr lang="it-IT" dirty="0" err="1"/>
              <a:t>ndvi_diff</a:t>
            </a:r>
            <a:r>
              <a:rPr lang="it-IT" dirty="0"/>
              <a:t>, col=</a:t>
            </a:r>
            <a:r>
              <a:rPr lang="it-IT" dirty="0" err="1"/>
              <a:t>viridis</a:t>
            </a:r>
            <a:r>
              <a:rPr lang="it-IT" dirty="0"/>
              <a:t>(100), </a:t>
            </a:r>
            <a:r>
              <a:rPr lang="it-IT" dirty="0" err="1"/>
              <a:t>main</a:t>
            </a:r>
            <a:r>
              <a:rPr lang="it-IT" dirty="0"/>
              <a:t>="NDVI </a:t>
            </a:r>
            <a:r>
              <a:rPr lang="it-IT" dirty="0" err="1"/>
              <a:t>difference</a:t>
            </a:r>
            <a:r>
              <a:rPr lang="it-IT" dirty="0"/>
              <a:t>: </a:t>
            </a:r>
            <a:r>
              <a:rPr lang="it-IT" dirty="0" err="1"/>
              <a:t>Biomass</a:t>
            </a:r>
            <a:r>
              <a:rPr lang="it-IT" dirty="0"/>
              <a:t> Loss")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618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536C29-3C39-9971-3749-A65BA0B1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it-IT" b="1" dirty="0" err="1"/>
              <a:t>Landscape</a:t>
            </a:r>
            <a:r>
              <a:rPr lang="it-IT" b="1" dirty="0"/>
              <a:t> </a:t>
            </a:r>
            <a:r>
              <a:rPr lang="it-IT" b="1" dirty="0" err="1"/>
              <a:t>Structure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4B4EF6-A854-F9D5-CC6D-9FE71CC89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6074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F5168-08B0-5C19-E99A-C1D56B47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Data </a:t>
            </a:r>
            <a:r>
              <a:rPr lang="it-IT" b="1" dirty="0" err="1"/>
              <a:t>Compression</a:t>
            </a:r>
            <a:r>
              <a:rPr lang="it-IT" b="1" dirty="0"/>
              <a:t> (PCA)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91FEEB-0F2A-0A5D-E916-8F5B7DEE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it-IT" sz="2000" b="1" dirty="0"/>
              <a:t>Data </a:t>
            </a:r>
            <a:r>
              <a:rPr lang="it-IT" sz="2000" b="1" dirty="0" err="1"/>
              <a:t>Reduction</a:t>
            </a:r>
            <a:r>
              <a:rPr lang="it-IT" sz="2000" b="1" dirty="0"/>
              <a:t>:</a:t>
            </a:r>
            <a:r>
              <a:rPr lang="it-IT" sz="2000" dirty="0"/>
              <a:t> Sentinel-2 </a:t>
            </a:r>
            <a:r>
              <a:rPr lang="it-IT" sz="2000" dirty="0" err="1"/>
              <a:t>provides</a:t>
            </a:r>
            <a:r>
              <a:rPr lang="it-IT" sz="2000" dirty="0"/>
              <a:t> multiple </a:t>
            </a:r>
            <a:r>
              <a:rPr lang="it-IT" sz="2000" dirty="0" err="1"/>
              <a:t>spectral</a:t>
            </a:r>
            <a:r>
              <a:rPr lang="it-IT" sz="2000" dirty="0"/>
              <a:t> </a:t>
            </a:r>
            <a:r>
              <a:rPr lang="it-IT" sz="2000" dirty="0" err="1"/>
              <a:t>bands</a:t>
            </a:r>
            <a:r>
              <a:rPr lang="it-IT" sz="2000" dirty="0"/>
              <a:t> (Red, Green, Blue, NIR) </a:t>
            </a:r>
            <a:r>
              <a:rPr lang="it-IT" sz="2000" dirty="0" err="1"/>
              <a:t>that</a:t>
            </a:r>
            <a:r>
              <a:rPr lang="it-IT" sz="2000" dirty="0"/>
              <a:t> are </a:t>
            </a:r>
            <a:r>
              <a:rPr lang="it-IT" sz="2000" dirty="0" err="1"/>
              <a:t>often</a:t>
            </a:r>
            <a:r>
              <a:rPr lang="it-IT" sz="2000" dirty="0"/>
              <a:t> </a:t>
            </a:r>
            <a:r>
              <a:rPr lang="it-IT" sz="2000" dirty="0" err="1"/>
              <a:t>highly</a:t>
            </a:r>
            <a:r>
              <a:rPr lang="it-IT" sz="2000" dirty="0"/>
              <a:t> </a:t>
            </a:r>
            <a:r>
              <a:rPr lang="it-IT" sz="2000" dirty="0" err="1"/>
              <a:t>correlated</a:t>
            </a:r>
            <a:r>
              <a:rPr lang="it-IT" sz="2000" dirty="0"/>
              <a:t> and </a:t>
            </a:r>
            <a:r>
              <a:rPr lang="it-IT" sz="2000" dirty="0" err="1"/>
              <a:t>redundant</a:t>
            </a:r>
            <a:r>
              <a:rPr lang="it-IT" sz="2000" dirty="0"/>
              <a:t>.</a:t>
            </a:r>
          </a:p>
          <a:p>
            <a:pPr>
              <a:buFontTx/>
              <a:buChar char="-"/>
            </a:pPr>
            <a:endParaRPr lang="it-IT" sz="2000" dirty="0"/>
          </a:p>
          <a:p>
            <a:pPr>
              <a:buFontTx/>
              <a:buChar char="-"/>
            </a:pPr>
            <a:r>
              <a:rPr lang="it-IT" sz="2000" b="1" dirty="0"/>
              <a:t>Information </a:t>
            </a:r>
            <a:r>
              <a:rPr lang="it-IT" sz="2000" b="1" dirty="0" err="1"/>
              <a:t>Concentration</a:t>
            </a:r>
            <a:r>
              <a:rPr lang="it-IT" sz="2000" b="1" dirty="0"/>
              <a:t>:</a:t>
            </a:r>
            <a:r>
              <a:rPr lang="it-IT" sz="2000" dirty="0"/>
              <a:t> PCA </a:t>
            </a:r>
            <a:r>
              <a:rPr lang="it-IT" sz="2000" dirty="0" err="1"/>
              <a:t>transforms</a:t>
            </a:r>
            <a:r>
              <a:rPr lang="it-IT" sz="2000" dirty="0"/>
              <a:t> </a:t>
            </a:r>
            <a:r>
              <a:rPr lang="it-IT" sz="2000" dirty="0" err="1"/>
              <a:t>these</a:t>
            </a:r>
            <a:r>
              <a:rPr lang="it-IT" sz="2000" dirty="0"/>
              <a:t> </a:t>
            </a:r>
            <a:r>
              <a:rPr lang="it-IT" sz="2000" dirty="0" err="1"/>
              <a:t>bands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new, </a:t>
            </a:r>
            <a:r>
              <a:rPr lang="it-IT" sz="2000" dirty="0" err="1"/>
              <a:t>uncorrelated</a:t>
            </a:r>
            <a:r>
              <a:rPr lang="it-IT" sz="2000" dirty="0"/>
              <a:t> </a:t>
            </a:r>
            <a:r>
              <a:rPr lang="it-IT" sz="2000" dirty="0" err="1"/>
              <a:t>variables</a:t>
            </a:r>
            <a:r>
              <a:rPr lang="it-IT" sz="2000" dirty="0"/>
              <a:t> </a:t>
            </a:r>
            <a:r>
              <a:rPr lang="it-IT" sz="2000" dirty="0" err="1"/>
              <a:t>called</a:t>
            </a:r>
            <a:r>
              <a:rPr lang="it-IT" sz="2000" dirty="0"/>
              <a:t> </a:t>
            </a:r>
            <a:r>
              <a:rPr lang="it-IT" sz="2000" dirty="0" err="1"/>
              <a:t>Principal</a:t>
            </a:r>
            <a:r>
              <a:rPr lang="it-IT" sz="2000" dirty="0"/>
              <a:t> Components.</a:t>
            </a:r>
          </a:p>
          <a:p>
            <a:pPr>
              <a:buFontTx/>
              <a:buChar char="-"/>
            </a:pPr>
            <a:endParaRPr lang="it-IT" sz="2000" dirty="0"/>
          </a:p>
          <a:p>
            <a:pPr>
              <a:buFontTx/>
              <a:buChar char="-"/>
            </a:pPr>
            <a:r>
              <a:rPr lang="it-IT" sz="2000" b="1" dirty="0" err="1"/>
              <a:t>Variance</a:t>
            </a:r>
            <a:r>
              <a:rPr lang="it-IT" sz="2000" b="1" dirty="0"/>
              <a:t> </a:t>
            </a:r>
            <a:r>
              <a:rPr lang="it-IT" sz="2000" b="1" dirty="0" err="1"/>
              <a:t>captured</a:t>
            </a:r>
            <a:r>
              <a:rPr lang="it-IT" sz="2000" b="1" dirty="0"/>
              <a:t>:</a:t>
            </a:r>
            <a:r>
              <a:rPr lang="it-IT" sz="2000" dirty="0"/>
              <a:t> In </a:t>
            </a:r>
            <a:r>
              <a:rPr lang="it-IT" sz="2000" dirty="0" err="1"/>
              <a:t>this</a:t>
            </a:r>
            <a:r>
              <a:rPr lang="it-IT" sz="2000" dirty="0"/>
              <a:t> study, the first </a:t>
            </a:r>
            <a:r>
              <a:rPr lang="it-IT" sz="2000" dirty="0" err="1"/>
              <a:t>two</a:t>
            </a:r>
            <a:r>
              <a:rPr lang="it-IT" sz="2000" dirty="0"/>
              <a:t> </a:t>
            </a:r>
            <a:r>
              <a:rPr lang="it-IT" sz="2000" dirty="0" err="1"/>
              <a:t>components</a:t>
            </a:r>
            <a:r>
              <a:rPr lang="it-IT" sz="2000" dirty="0"/>
              <a:t> (PC1 and PC2) </a:t>
            </a:r>
            <a:r>
              <a:rPr lang="it-IT" sz="2000" dirty="0" err="1"/>
              <a:t>explain</a:t>
            </a:r>
            <a:r>
              <a:rPr lang="it-IT" sz="2000" dirty="0"/>
              <a:t> </a:t>
            </a:r>
            <a:r>
              <a:rPr lang="it-IT" sz="2000" b="1" dirty="0"/>
              <a:t>~76.59% </a:t>
            </a:r>
            <a:r>
              <a:rPr lang="it-IT" sz="2000" dirty="0">
                <a:solidFill>
                  <a:srgbClr val="0070C0"/>
                </a:solidFill>
              </a:rPr>
              <a:t>(2019) </a:t>
            </a:r>
            <a:r>
              <a:rPr lang="it-IT" sz="2000" dirty="0"/>
              <a:t>and </a:t>
            </a:r>
            <a:r>
              <a:rPr lang="it-IT" sz="2000" b="1" dirty="0"/>
              <a:t>~70.15% </a:t>
            </a:r>
            <a:r>
              <a:rPr lang="it-IT" sz="2000" dirty="0">
                <a:solidFill>
                  <a:srgbClr val="FF0000"/>
                </a:solidFill>
              </a:rPr>
              <a:t>(2020) </a:t>
            </a:r>
            <a:r>
              <a:rPr lang="it-IT" sz="2000" dirty="0"/>
              <a:t>of the </a:t>
            </a:r>
            <a:r>
              <a:rPr lang="it-IT" sz="2000" dirty="0" err="1"/>
              <a:t>total</a:t>
            </a:r>
            <a:r>
              <a:rPr lang="it-IT" sz="2000" dirty="0"/>
              <a:t> </a:t>
            </a:r>
            <a:r>
              <a:rPr lang="it-IT" sz="2000" dirty="0" err="1"/>
              <a:t>landscape</a:t>
            </a:r>
            <a:r>
              <a:rPr lang="it-IT" sz="2000" dirty="0"/>
              <a:t> </a:t>
            </a:r>
            <a:r>
              <a:rPr lang="it-IT" sz="2000" dirty="0" err="1"/>
              <a:t>variability</a:t>
            </a:r>
            <a:r>
              <a:rPr lang="it-IT" sz="2000" dirty="0"/>
              <a:t>.</a:t>
            </a:r>
          </a:p>
          <a:p>
            <a:pPr>
              <a:buFontTx/>
              <a:buChar char="-"/>
            </a:pPr>
            <a:endParaRPr lang="it-IT" sz="2000" dirty="0"/>
          </a:p>
          <a:p>
            <a:pPr>
              <a:buFontTx/>
              <a:buChar char="-"/>
            </a:pPr>
            <a:r>
              <a:rPr lang="it-IT" sz="2000" b="1" dirty="0" err="1"/>
              <a:t>Objective</a:t>
            </a:r>
            <a:r>
              <a:rPr lang="it-IT" sz="2000" b="1" dirty="0"/>
              <a:t>:</a:t>
            </a:r>
            <a:r>
              <a:rPr lang="it-IT" sz="2000" dirty="0"/>
              <a:t> </a:t>
            </a:r>
            <a:r>
              <a:rPr lang="it-IT" sz="2000" dirty="0" err="1"/>
              <a:t>Isolating</a:t>
            </a:r>
            <a:r>
              <a:rPr lang="it-IT" sz="2000" dirty="0"/>
              <a:t> the </a:t>
            </a:r>
            <a:r>
              <a:rPr lang="it-IT" sz="2000" dirty="0" err="1"/>
              <a:t>most</a:t>
            </a:r>
            <a:r>
              <a:rPr lang="it-IT" sz="2000" dirty="0"/>
              <a:t> </a:t>
            </a:r>
            <a:r>
              <a:rPr lang="it-IT" sz="2000" dirty="0" err="1"/>
              <a:t>important</a:t>
            </a:r>
            <a:r>
              <a:rPr lang="it-IT" sz="2000" dirty="0"/>
              <a:t> </a:t>
            </a:r>
            <a:r>
              <a:rPr lang="it-IT" sz="2000" dirty="0" err="1"/>
              <a:t>ecological</a:t>
            </a:r>
            <a:r>
              <a:rPr lang="it-IT" sz="2000" dirty="0"/>
              <a:t> </a:t>
            </a:r>
            <a:r>
              <a:rPr lang="it-IT" sz="2000" dirty="0" err="1"/>
              <a:t>signals</a:t>
            </a:r>
            <a:r>
              <a:rPr lang="it-IT" sz="2000" dirty="0"/>
              <a:t> to </a:t>
            </a:r>
            <a:r>
              <a:rPr lang="it-IT" sz="2000" dirty="0" err="1"/>
              <a:t>calculate</a:t>
            </a:r>
            <a:r>
              <a:rPr lang="it-IT" sz="2000" dirty="0"/>
              <a:t> </a:t>
            </a:r>
            <a:r>
              <a:rPr lang="it-IT" sz="2000" dirty="0" err="1"/>
              <a:t>spatial</a:t>
            </a:r>
            <a:r>
              <a:rPr lang="it-IT" sz="2000" dirty="0"/>
              <a:t> </a:t>
            </a:r>
            <a:r>
              <a:rPr lang="it-IT" sz="2000" dirty="0" err="1"/>
              <a:t>heterogeneity</a:t>
            </a:r>
            <a:r>
              <a:rPr lang="it-IT" sz="2000" dirty="0"/>
              <a:t> </a:t>
            </a:r>
            <a:r>
              <a:rPr lang="it-IT" sz="2000" dirty="0" err="1"/>
              <a:t>without</a:t>
            </a:r>
            <a:r>
              <a:rPr lang="it-IT" sz="2000" dirty="0"/>
              <a:t> the "</a:t>
            </a:r>
            <a:r>
              <a:rPr lang="it-IT" sz="2000" dirty="0" err="1"/>
              <a:t>noise</a:t>
            </a:r>
            <a:r>
              <a:rPr lang="it-IT" sz="2000" dirty="0"/>
              <a:t>" of </a:t>
            </a:r>
            <a:r>
              <a:rPr lang="it-IT" sz="2000" dirty="0" err="1"/>
              <a:t>redundant</a:t>
            </a:r>
            <a:r>
              <a:rPr lang="it-IT" sz="2000" dirty="0"/>
              <a:t> data.</a:t>
            </a:r>
          </a:p>
          <a:p>
            <a:pPr>
              <a:buFontTx/>
              <a:buChar char="-"/>
            </a:pPr>
            <a:endParaRPr lang="it-IT" sz="20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8641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560070-9F0B-9348-8364-BFD822C4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58689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dirty="0"/>
              <a:t>Code for PCA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FB6BCC-8C0C-FE9A-725D-7A5A5AC42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6671" y="1101498"/>
            <a:ext cx="5107577" cy="563231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Running the </a:t>
            </a:r>
            <a:r>
              <a:rPr lang="it-IT" sz="1400" dirty="0" err="1"/>
              <a:t>Principal</a:t>
            </a:r>
            <a:r>
              <a:rPr lang="it-IT" sz="1400" dirty="0"/>
              <a:t> Component Analysis on the 2020 </a:t>
            </a:r>
            <a:r>
              <a:rPr lang="it-IT" sz="1400" dirty="0" err="1"/>
              <a:t>stack</a:t>
            </a:r>
            <a:r>
              <a:rPr lang="it-IT" sz="1400" dirty="0"/>
              <a:t>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pca20 &lt;- </a:t>
            </a:r>
            <a:r>
              <a:rPr lang="it-IT" sz="1400" dirty="0" err="1"/>
              <a:t>im.pca</a:t>
            </a:r>
            <a:r>
              <a:rPr lang="it-IT" sz="1400" dirty="0"/>
              <a:t>(stack20)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Standard </a:t>
            </a:r>
            <a:r>
              <a:rPr lang="it-IT" sz="1400" dirty="0" err="1"/>
              <a:t>Deviations</a:t>
            </a:r>
            <a:r>
              <a:rPr lang="it-IT" sz="1400" dirty="0"/>
              <a:t> </a:t>
            </a:r>
            <a:r>
              <a:rPr lang="it-IT" sz="1400" dirty="0" err="1"/>
              <a:t>obtained</a:t>
            </a:r>
            <a:r>
              <a:rPr lang="it-IT" sz="1400" dirty="0"/>
              <a:t> from </a:t>
            </a:r>
            <a:r>
              <a:rPr lang="it-IT" sz="1400" dirty="0" err="1"/>
              <a:t>R</a:t>
            </a:r>
            <a:r>
              <a:rPr lang="it-IT" sz="14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pca1 = 30.18312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pca2 = 28.80024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pca3 = 19.72079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pca4 = 5.34542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</a:t>
            </a:r>
            <a:r>
              <a:rPr lang="it-IT" sz="1400" dirty="0" err="1"/>
              <a:t>Calculating</a:t>
            </a:r>
            <a:r>
              <a:rPr lang="it-IT" sz="1400" dirty="0"/>
              <a:t> the </a:t>
            </a:r>
            <a:r>
              <a:rPr lang="it-IT" sz="1400" dirty="0" err="1"/>
              <a:t>total</a:t>
            </a:r>
            <a:r>
              <a:rPr lang="it-IT" sz="1400" dirty="0"/>
              <a:t> </a:t>
            </a:r>
            <a:r>
              <a:rPr lang="it-IT" sz="1400" dirty="0" err="1"/>
              <a:t>variability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the sum of </a:t>
            </a:r>
            <a:r>
              <a:rPr lang="it-IT" sz="1400" dirty="0" err="1"/>
              <a:t>SDs</a:t>
            </a:r>
            <a:r>
              <a:rPr lang="it-IT" sz="1400" dirty="0"/>
              <a:t> of the </a:t>
            </a:r>
            <a:r>
              <a:rPr lang="it-IT" sz="1400" dirty="0" err="1"/>
              <a:t>components</a:t>
            </a:r>
            <a:r>
              <a:rPr lang="it-IT" sz="1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tot20pca &lt;- sum(30.18312, 28.80024, 19.72079, 5.34542)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84.04957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</a:t>
            </a:r>
            <a:r>
              <a:rPr lang="it-IT" sz="1400" dirty="0" err="1"/>
              <a:t>Estimating</a:t>
            </a:r>
            <a:r>
              <a:rPr lang="it-IT" sz="1400" dirty="0"/>
              <a:t> the </a:t>
            </a:r>
            <a:r>
              <a:rPr lang="it-IT" sz="1400" dirty="0" err="1"/>
              <a:t>percentage</a:t>
            </a:r>
            <a:r>
              <a:rPr lang="it-IT" sz="1400" dirty="0"/>
              <a:t> of information </a:t>
            </a:r>
            <a:r>
              <a:rPr lang="it-IT" sz="1400" dirty="0" err="1"/>
              <a:t>represented</a:t>
            </a:r>
            <a:r>
              <a:rPr lang="it-IT" sz="1400" dirty="0"/>
              <a:t> by </a:t>
            </a:r>
            <a:r>
              <a:rPr lang="it-IT" sz="1400" dirty="0" err="1"/>
              <a:t>each</a:t>
            </a:r>
            <a:r>
              <a:rPr lang="it-IT" sz="1400" dirty="0"/>
              <a:t> </a:t>
            </a:r>
            <a:r>
              <a:rPr lang="it-IT" sz="1400" dirty="0" err="1"/>
              <a:t>axis</a:t>
            </a:r>
            <a:r>
              <a:rPr lang="it-IT" sz="1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30.18312*100/84.04957 # 35.91% (PC1)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28.80024*100/84.04957 # 34.26% (PC2)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19.72079*100/84.04957 # 23.46% (PC3)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5.34542*100/84.04957 # 6.36% (PC4)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# PC1 and PC2 </a:t>
            </a:r>
            <a:r>
              <a:rPr lang="it-IT" sz="1400" dirty="0" err="1"/>
              <a:t>together</a:t>
            </a:r>
            <a:r>
              <a:rPr lang="it-IT" sz="1400" dirty="0"/>
              <a:t> cover ~70.15% of the </a:t>
            </a:r>
            <a:r>
              <a:rPr lang="it-IT" sz="1400" dirty="0" err="1"/>
              <a:t>original</a:t>
            </a:r>
            <a:r>
              <a:rPr lang="it-IT" sz="1400" dirty="0"/>
              <a:t> information, </a:t>
            </a:r>
            <a:r>
              <a:rPr lang="it-IT" sz="1400" dirty="0" err="1"/>
              <a:t>which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enough</a:t>
            </a:r>
            <a:r>
              <a:rPr lang="it-IT" sz="1400" dirty="0"/>
              <a:t> to </a:t>
            </a:r>
            <a:r>
              <a:rPr lang="it-IT" sz="1400" dirty="0" err="1"/>
              <a:t>describe</a:t>
            </a:r>
            <a:r>
              <a:rPr lang="it-IT" sz="1400" dirty="0"/>
              <a:t> the </a:t>
            </a:r>
            <a:r>
              <a:rPr lang="it-IT" sz="1400" dirty="0" err="1"/>
              <a:t>landscape</a:t>
            </a:r>
            <a:r>
              <a:rPr lang="it-IT" sz="1400" dirty="0"/>
              <a:t> </a:t>
            </a:r>
            <a:r>
              <a:rPr lang="it-IT" sz="1400" dirty="0" err="1"/>
              <a:t>structure</a:t>
            </a:r>
            <a:r>
              <a:rPr lang="it-IT" sz="1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1400" dirty="0"/>
              <a:t>compactpca20 &lt;- pca20[[1]] + pca20[[2]]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B174F5-1AEC-8319-C514-932FCA072E1E}"/>
              </a:ext>
            </a:extLst>
          </p:cNvPr>
          <p:cNvSpPr txBox="1"/>
          <p:nvPr/>
        </p:nvSpPr>
        <p:spPr>
          <a:xfrm>
            <a:off x="537754" y="1101498"/>
            <a:ext cx="5107577" cy="56323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dirty="0"/>
              <a:t># Running the </a:t>
            </a:r>
            <a:r>
              <a:rPr lang="it-IT" sz="1400" dirty="0" err="1"/>
              <a:t>Principal</a:t>
            </a:r>
            <a:r>
              <a:rPr lang="it-IT" sz="1400" dirty="0"/>
              <a:t> Component Analysis on the 2019 </a:t>
            </a:r>
            <a:r>
              <a:rPr lang="it-IT" sz="1400" dirty="0" err="1"/>
              <a:t>stack</a:t>
            </a:r>
            <a:r>
              <a:rPr lang="it-IT" sz="1400" dirty="0"/>
              <a:t>. </a:t>
            </a:r>
          </a:p>
          <a:p>
            <a:r>
              <a:rPr lang="it-IT" sz="1400" dirty="0"/>
              <a:t>pca19 &lt;- </a:t>
            </a:r>
            <a:r>
              <a:rPr lang="it-IT" sz="1400" dirty="0" err="1"/>
              <a:t>im.pca</a:t>
            </a:r>
            <a:r>
              <a:rPr lang="it-IT" sz="1400" dirty="0"/>
              <a:t>(stack19)</a:t>
            </a:r>
          </a:p>
          <a:p>
            <a:endParaRPr lang="it-IT" sz="1400" dirty="0"/>
          </a:p>
          <a:p>
            <a:r>
              <a:rPr lang="it-IT" sz="1400" dirty="0"/>
              <a:t># Standard </a:t>
            </a:r>
            <a:r>
              <a:rPr lang="it-IT" sz="1400" dirty="0" err="1"/>
              <a:t>Deviations</a:t>
            </a:r>
            <a:r>
              <a:rPr lang="it-IT" sz="1400" dirty="0"/>
              <a:t> </a:t>
            </a:r>
            <a:r>
              <a:rPr lang="it-IT" sz="1400" dirty="0" err="1"/>
              <a:t>obtained</a:t>
            </a:r>
            <a:r>
              <a:rPr lang="it-IT" sz="1400" dirty="0"/>
              <a:t> from </a:t>
            </a:r>
            <a:r>
              <a:rPr lang="it-IT" sz="1400" dirty="0" err="1"/>
              <a:t>R</a:t>
            </a:r>
            <a:r>
              <a:rPr lang="it-IT" sz="1400" dirty="0"/>
              <a:t>:</a:t>
            </a:r>
          </a:p>
          <a:p>
            <a:r>
              <a:rPr lang="it-IT" sz="1400" dirty="0"/>
              <a:t># pca1 = 22.300805</a:t>
            </a:r>
          </a:p>
          <a:p>
            <a:r>
              <a:rPr lang="it-IT" sz="1400" dirty="0"/>
              <a:t># pca2 = 13.894895</a:t>
            </a:r>
          </a:p>
          <a:p>
            <a:r>
              <a:rPr lang="it-IT" sz="1400" dirty="0"/>
              <a:t># pca3 = 8.694020</a:t>
            </a:r>
          </a:p>
          <a:p>
            <a:r>
              <a:rPr lang="it-IT" sz="1400" dirty="0"/>
              <a:t># pca4 = 2.365775</a:t>
            </a:r>
          </a:p>
          <a:p>
            <a:endParaRPr lang="it-IT" sz="1400" dirty="0"/>
          </a:p>
          <a:p>
            <a:r>
              <a:rPr lang="it-IT" sz="1400" dirty="0"/>
              <a:t># </a:t>
            </a:r>
            <a:r>
              <a:rPr lang="it-IT" sz="1400" dirty="0" err="1"/>
              <a:t>Calculating</a:t>
            </a:r>
            <a:r>
              <a:rPr lang="it-IT" sz="1400" dirty="0"/>
              <a:t> the </a:t>
            </a:r>
            <a:r>
              <a:rPr lang="it-IT" sz="1400" dirty="0" err="1"/>
              <a:t>total</a:t>
            </a:r>
            <a:r>
              <a:rPr lang="it-IT" sz="1400" dirty="0"/>
              <a:t> </a:t>
            </a:r>
            <a:r>
              <a:rPr lang="it-IT" sz="1400" dirty="0" err="1"/>
              <a:t>variability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the sum of </a:t>
            </a:r>
            <a:r>
              <a:rPr lang="it-IT" sz="1400" dirty="0" err="1"/>
              <a:t>SDs</a:t>
            </a:r>
            <a:r>
              <a:rPr lang="it-IT" sz="1400" dirty="0"/>
              <a:t> of the </a:t>
            </a:r>
            <a:r>
              <a:rPr lang="it-IT" sz="1400" dirty="0" err="1"/>
              <a:t>components</a:t>
            </a:r>
            <a:r>
              <a:rPr lang="it-IT" sz="1400" dirty="0"/>
              <a:t>.</a:t>
            </a:r>
          </a:p>
          <a:p>
            <a:r>
              <a:rPr lang="it-IT" sz="1400" dirty="0"/>
              <a:t>tot19pca &lt;- sum(22.300805, 13.894895, 8.694020, 2.365775)</a:t>
            </a:r>
          </a:p>
          <a:p>
            <a:r>
              <a:rPr lang="it-IT" sz="1400" dirty="0"/>
              <a:t># 47.2555</a:t>
            </a:r>
          </a:p>
          <a:p>
            <a:endParaRPr lang="it-IT" sz="1400" dirty="0"/>
          </a:p>
          <a:p>
            <a:r>
              <a:rPr lang="it-IT" sz="1400" dirty="0"/>
              <a:t># </a:t>
            </a:r>
            <a:r>
              <a:rPr lang="it-IT" sz="1400" dirty="0" err="1"/>
              <a:t>Estimating</a:t>
            </a:r>
            <a:r>
              <a:rPr lang="it-IT" sz="1400" dirty="0"/>
              <a:t> the </a:t>
            </a:r>
            <a:r>
              <a:rPr lang="it-IT" sz="1400" dirty="0" err="1"/>
              <a:t>percentage</a:t>
            </a:r>
            <a:r>
              <a:rPr lang="it-IT" sz="1400" dirty="0"/>
              <a:t> of information </a:t>
            </a:r>
            <a:r>
              <a:rPr lang="it-IT" sz="1400" dirty="0" err="1"/>
              <a:t>represented</a:t>
            </a:r>
            <a:r>
              <a:rPr lang="it-IT" sz="1400" dirty="0"/>
              <a:t> by </a:t>
            </a:r>
            <a:r>
              <a:rPr lang="it-IT" sz="1400" dirty="0" err="1"/>
              <a:t>each</a:t>
            </a:r>
            <a:r>
              <a:rPr lang="it-IT" sz="1400" dirty="0"/>
              <a:t> </a:t>
            </a:r>
            <a:r>
              <a:rPr lang="it-IT" sz="1400" dirty="0" err="1"/>
              <a:t>axis</a:t>
            </a:r>
            <a:r>
              <a:rPr lang="it-IT" sz="1400" dirty="0"/>
              <a:t>.</a:t>
            </a:r>
          </a:p>
          <a:p>
            <a:r>
              <a:rPr lang="it-IT" sz="1400" dirty="0"/>
              <a:t>22.300805*100/47.2555 # 47.19% (PC1)</a:t>
            </a:r>
          </a:p>
          <a:p>
            <a:r>
              <a:rPr lang="it-IT" sz="1400" dirty="0"/>
              <a:t>13.894895*100/47.2555 # 29.40% (PC2)</a:t>
            </a:r>
          </a:p>
          <a:p>
            <a:r>
              <a:rPr lang="it-IT" sz="1400" dirty="0"/>
              <a:t>8.694020*100/47.2555 # 18.40% (PC3)</a:t>
            </a:r>
          </a:p>
          <a:p>
            <a:r>
              <a:rPr lang="it-IT" sz="1400" dirty="0"/>
              <a:t>2.365775*100/47.2555 # 5.01% (PC4)</a:t>
            </a:r>
          </a:p>
          <a:p>
            <a:endParaRPr lang="it-IT" sz="1400" dirty="0"/>
          </a:p>
          <a:p>
            <a:r>
              <a:rPr lang="it-IT" sz="1400" dirty="0"/>
              <a:t># PC1 and PC2 </a:t>
            </a:r>
            <a:r>
              <a:rPr lang="it-IT" sz="1400" dirty="0" err="1"/>
              <a:t>together</a:t>
            </a:r>
            <a:r>
              <a:rPr lang="it-IT" sz="1400" dirty="0"/>
              <a:t> cover ~76.59% of the </a:t>
            </a:r>
            <a:r>
              <a:rPr lang="it-IT" sz="1400" dirty="0" err="1"/>
              <a:t>original</a:t>
            </a:r>
            <a:r>
              <a:rPr lang="it-IT" sz="1400" dirty="0"/>
              <a:t> information, </a:t>
            </a:r>
            <a:r>
              <a:rPr lang="it-IT" sz="1400" dirty="0" err="1"/>
              <a:t>which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enough</a:t>
            </a:r>
            <a:r>
              <a:rPr lang="it-IT" sz="1400" dirty="0"/>
              <a:t> to </a:t>
            </a:r>
            <a:r>
              <a:rPr lang="it-IT" sz="1400" dirty="0" err="1"/>
              <a:t>describe</a:t>
            </a:r>
            <a:r>
              <a:rPr lang="it-IT" sz="1400" dirty="0"/>
              <a:t> the </a:t>
            </a:r>
            <a:r>
              <a:rPr lang="it-IT" sz="1400" dirty="0" err="1"/>
              <a:t>landscape</a:t>
            </a:r>
            <a:r>
              <a:rPr lang="it-IT" sz="1400" dirty="0"/>
              <a:t> </a:t>
            </a:r>
            <a:r>
              <a:rPr lang="it-IT" sz="1400" dirty="0" err="1"/>
              <a:t>structure</a:t>
            </a:r>
            <a:r>
              <a:rPr lang="it-IT" sz="1400" dirty="0"/>
              <a:t>.</a:t>
            </a:r>
          </a:p>
          <a:p>
            <a:r>
              <a:rPr lang="it-IT" sz="1400" dirty="0"/>
              <a:t>compactpca19 &lt;- pca19[[1]] + pca19[[2]]</a:t>
            </a:r>
          </a:p>
          <a:p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618480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782CD-C296-F28E-14C1-0AAA916E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Landscape</a:t>
            </a:r>
            <a:r>
              <a:rPr lang="it-IT" b="1" dirty="0"/>
              <a:t> </a:t>
            </a:r>
            <a:r>
              <a:rPr lang="it-IT" b="1" dirty="0" err="1"/>
              <a:t>Heterogeneity</a:t>
            </a:r>
            <a:r>
              <a:rPr lang="it-IT" b="1" dirty="0"/>
              <a:t> (SD)</a:t>
            </a:r>
          </a:p>
        </p:txBody>
      </p:sp>
      <p:pic>
        <p:nvPicPr>
          <p:cNvPr id="5" name="Segnaposto contenuto 4" descr="Immagine che contiene testo, schermata, Policromia&#10;&#10;Descrizione generata automaticamente">
            <a:extLst>
              <a:ext uri="{FF2B5EF4-FFF2-40B4-BE49-F238E27FC236}">
                <a16:creationId xmlns:a16="http://schemas.microsoft.com/office/drawing/2014/main" id="{8C3C11B1-C99A-5854-1DCC-37EF64E42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56487"/>
            <a:ext cx="4546600" cy="5201513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FFDBC7-DADA-C486-D9CE-A58C2EFCFA9A}"/>
              </a:ext>
            </a:extLst>
          </p:cNvPr>
          <p:cNvSpPr txBox="1"/>
          <p:nvPr/>
        </p:nvSpPr>
        <p:spPr>
          <a:xfrm>
            <a:off x="5384800" y="1593652"/>
            <a:ext cx="62865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070C0"/>
                </a:solidFill>
              </a:rPr>
              <a:t>2019</a:t>
            </a:r>
            <a:r>
              <a:rPr lang="it-IT" sz="2000" dirty="0"/>
              <a:t>: SD </a:t>
            </a:r>
            <a:r>
              <a:rPr lang="it-IT" sz="2000" dirty="0" err="1"/>
              <a:t>values</a:t>
            </a:r>
            <a:r>
              <a:rPr lang="it-IT" sz="2000" dirty="0"/>
              <a:t> </a:t>
            </a:r>
            <a:r>
              <a:rPr lang="it-IT" sz="2000" dirty="0" err="1"/>
              <a:t>generally</a:t>
            </a:r>
            <a:r>
              <a:rPr lang="it-IT" sz="2000" dirty="0"/>
              <a:t> low and </a:t>
            </a:r>
            <a:r>
              <a:rPr lang="it-IT" sz="2000" dirty="0" err="1"/>
              <a:t>spatially</a:t>
            </a:r>
            <a:r>
              <a:rPr lang="it-IT" sz="2000" dirty="0"/>
              <a:t> </a:t>
            </a:r>
            <a:r>
              <a:rPr lang="it-IT" sz="2000" dirty="0" err="1"/>
              <a:t>coherent</a:t>
            </a:r>
            <a:r>
              <a:rPr lang="it-IT" sz="2000" dirty="0"/>
              <a:t>, relative </a:t>
            </a:r>
            <a:r>
              <a:rPr lang="it-IT" sz="2000" dirty="0" err="1"/>
              <a:t>homogeneous</a:t>
            </a:r>
            <a:r>
              <a:rPr lang="it-IT" sz="2000" dirty="0"/>
              <a:t> </a:t>
            </a:r>
            <a:r>
              <a:rPr lang="it-IT" sz="2000" dirty="0" err="1"/>
              <a:t>landscape</a:t>
            </a:r>
            <a:r>
              <a:rPr lang="it-IT" sz="2000" dirty="0"/>
              <a:t>. </a:t>
            </a:r>
            <a:r>
              <a:rPr lang="it-IT" sz="2000" dirty="0" err="1"/>
              <a:t>Main</a:t>
            </a:r>
            <a:r>
              <a:rPr lang="it-IT" sz="2000" dirty="0"/>
              <a:t> </a:t>
            </a:r>
            <a:r>
              <a:rPr lang="it-IT" sz="2000" dirty="0" err="1"/>
              <a:t>geomorphological</a:t>
            </a:r>
            <a:r>
              <a:rPr lang="it-IT" sz="2000" dirty="0"/>
              <a:t> </a:t>
            </a:r>
            <a:r>
              <a:rPr lang="it-IT" sz="2000" dirty="0" err="1"/>
              <a:t>structures</a:t>
            </a:r>
            <a:r>
              <a:rPr lang="it-IT" sz="2000" dirty="0"/>
              <a:t> are </a:t>
            </a:r>
            <a:r>
              <a:rPr lang="it-IT" sz="2000" dirty="0" err="1"/>
              <a:t>recognizible</a:t>
            </a:r>
            <a:r>
              <a:rPr lang="it-IT" sz="2000" dirty="0"/>
              <a:t> </a:t>
            </a:r>
            <a:r>
              <a:rPr lang="it-IT" sz="2000" dirty="0" err="1"/>
              <a:t>but</a:t>
            </a:r>
            <a:r>
              <a:rPr lang="it-IT" sz="2000" dirty="0"/>
              <a:t>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too</a:t>
            </a:r>
            <a:r>
              <a:rPr lang="it-IT" sz="2000" dirty="0"/>
              <a:t> </a:t>
            </a:r>
            <a:r>
              <a:rPr lang="it-IT" sz="2000" dirty="0" err="1"/>
              <a:t>spatially</a:t>
            </a:r>
            <a:r>
              <a:rPr lang="it-IT" sz="2000" dirty="0"/>
              <a:t> </a:t>
            </a:r>
            <a:r>
              <a:rPr lang="it-IT" sz="2000" dirty="0" err="1"/>
              <a:t>discontiuous</a:t>
            </a:r>
            <a:r>
              <a:rPr lang="it-IT" sz="2000" dirty="0"/>
              <a:t>.</a:t>
            </a:r>
          </a:p>
          <a:p>
            <a:r>
              <a:rPr lang="it-IT" sz="2000" dirty="0">
                <a:solidFill>
                  <a:srgbClr val="FF0000"/>
                </a:solidFill>
              </a:rPr>
              <a:t>2020</a:t>
            </a:r>
            <a:r>
              <a:rPr lang="it-IT" sz="2000" dirty="0"/>
              <a:t>: </a:t>
            </a:r>
            <a:r>
              <a:rPr lang="it-IT" sz="2000" dirty="0" err="1"/>
              <a:t>While</a:t>
            </a:r>
            <a:r>
              <a:rPr lang="it-IT" sz="2000" dirty="0"/>
              <a:t> </a:t>
            </a:r>
            <a:r>
              <a:rPr lang="it-IT" sz="2000" dirty="0" err="1"/>
              <a:t>maintaining</a:t>
            </a:r>
            <a:r>
              <a:rPr lang="it-IT" sz="2000" dirty="0"/>
              <a:t> a </a:t>
            </a:r>
            <a:r>
              <a:rPr lang="it-IT" sz="2000" dirty="0" err="1"/>
              <a:t>similar</a:t>
            </a:r>
            <a:r>
              <a:rPr lang="it-IT" sz="2000" dirty="0"/>
              <a:t> global </a:t>
            </a:r>
            <a:r>
              <a:rPr lang="it-IT" sz="2000" dirty="0" err="1"/>
              <a:t>distribution</a:t>
            </a:r>
            <a:r>
              <a:rPr lang="it-IT" sz="2000" dirty="0"/>
              <a:t>, low </a:t>
            </a:r>
            <a:r>
              <a:rPr lang="it-IT" sz="2000" dirty="0" err="1"/>
              <a:t>increment</a:t>
            </a:r>
            <a:r>
              <a:rPr lang="it-IT" sz="2000" dirty="0"/>
              <a:t> of </a:t>
            </a:r>
            <a:r>
              <a:rPr lang="it-IT" sz="2000" dirty="0" err="1"/>
              <a:t>variability</a:t>
            </a:r>
            <a:r>
              <a:rPr lang="it-IT" sz="2000" dirty="0"/>
              <a:t>, with a </a:t>
            </a:r>
            <a:r>
              <a:rPr lang="it-IT" sz="2000" dirty="0" err="1"/>
              <a:t>stronger</a:t>
            </a:r>
            <a:r>
              <a:rPr lang="it-IT" sz="2000" dirty="0"/>
              <a:t> </a:t>
            </a:r>
            <a:r>
              <a:rPr lang="it-IT" sz="2000" dirty="0" err="1"/>
              <a:t>presence</a:t>
            </a:r>
            <a:r>
              <a:rPr lang="it-IT" sz="2000" dirty="0"/>
              <a:t> of high SD pixels (</a:t>
            </a:r>
            <a:r>
              <a:rPr lang="it-IT" sz="2000" dirty="0" err="1"/>
              <a:t>yellow</a:t>
            </a:r>
            <a:r>
              <a:rPr lang="it-IT" sz="2000" dirty="0"/>
              <a:t>) and a more </a:t>
            </a:r>
            <a:r>
              <a:rPr lang="it-IT" sz="2000" dirty="0" err="1"/>
              <a:t>fragmented</a:t>
            </a:r>
            <a:r>
              <a:rPr lang="it-IT" sz="2000" dirty="0"/>
              <a:t> </a:t>
            </a:r>
            <a:r>
              <a:rPr lang="it-IT" sz="2000" dirty="0" err="1"/>
              <a:t>distribution</a:t>
            </a:r>
            <a:r>
              <a:rPr lang="it-IT" sz="2000" dirty="0"/>
              <a:t>. Outputs </a:t>
            </a:r>
            <a:r>
              <a:rPr lang="it-IT" sz="2000" dirty="0" err="1"/>
              <a:t>consistent</a:t>
            </a:r>
            <a:r>
              <a:rPr lang="it-IT" sz="2000" dirty="0"/>
              <a:t> with an </a:t>
            </a:r>
            <a:r>
              <a:rPr lang="it-IT" sz="2000" dirty="0" err="1"/>
              <a:t>heterogenous</a:t>
            </a:r>
            <a:r>
              <a:rPr lang="it-IT" sz="2000" dirty="0"/>
              <a:t> stress event like </a:t>
            </a:r>
            <a:r>
              <a:rPr lang="it-IT" sz="2000" dirty="0" err="1"/>
              <a:t>fire</a:t>
            </a:r>
            <a:r>
              <a:rPr lang="it-IT" sz="2000" dirty="0"/>
              <a:t>. The </a:t>
            </a:r>
            <a:r>
              <a:rPr lang="it-IT" sz="2000" dirty="0" err="1"/>
              <a:t>fire</a:t>
            </a:r>
            <a:r>
              <a:rPr lang="it-IT" sz="2000" dirty="0"/>
              <a:t> </a:t>
            </a:r>
            <a:r>
              <a:rPr lang="it-IT" sz="2000" dirty="0" err="1"/>
              <a:t>acted</a:t>
            </a:r>
            <a:r>
              <a:rPr lang="it-IT" sz="2000" dirty="0"/>
              <a:t> </a:t>
            </a:r>
            <a:r>
              <a:rPr lang="it-IT" sz="2000" dirty="0" err="1"/>
              <a:t>as</a:t>
            </a:r>
            <a:r>
              <a:rPr lang="it-IT" sz="2000" dirty="0"/>
              <a:t> a "</a:t>
            </a:r>
            <a:r>
              <a:rPr lang="it-IT" sz="2000" dirty="0" err="1"/>
              <a:t>disturbing</a:t>
            </a:r>
            <a:r>
              <a:rPr lang="it-IT" sz="2000" dirty="0"/>
              <a:t> agent" </a:t>
            </a:r>
            <a:r>
              <a:rPr lang="it-IT" sz="2000" dirty="0" err="1"/>
              <a:t>thet</a:t>
            </a:r>
            <a:r>
              <a:rPr lang="it-IT" sz="2000" dirty="0"/>
              <a:t> </a:t>
            </a:r>
            <a:r>
              <a:rPr lang="it-IT" sz="2000" dirty="0" err="1"/>
              <a:t>broke</a:t>
            </a:r>
            <a:r>
              <a:rPr lang="it-IT" sz="2000" dirty="0"/>
              <a:t> the </a:t>
            </a:r>
            <a:r>
              <a:rPr lang="it-IT" sz="2000" dirty="0" err="1"/>
              <a:t>spatial</a:t>
            </a:r>
            <a:r>
              <a:rPr lang="it-IT" sz="2000" dirty="0"/>
              <a:t> </a:t>
            </a:r>
            <a:r>
              <a:rPr lang="it-IT" sz="2000" dirty="0" err="1"/>
              <a:t>continuity</a:t>
            </a:r>
            <a:r>
              <a:rPr lang="it-IT" sz="2000" dirty="0"/>
              <a:t> </a:t>
            </a:r>
            <a:r>
              <a:rPr lang="it-IT" sz="2000" dirty="0" err="1"/>
              <a:t>noticed</a:t>
            </a:r>
            <a:r>
              <a:rPr lang="it-IT" sz="2000" dirty="0"/>
              <a:t> in 2019 and </a:t>
            </a:r>
            <a:r>
              <a:rPr lang="it-IT" sz="2000" dirty="0" err="1"/>
              <a:t>generated</a:t>
            </a:r>
            <a:r>
              <a:rPr lang="it-IT" sz="2000" dirty="0"/>
              <a:t> "disorder".</a:t>
            </a:r>
          </a:p>
          <a:p>
            <a:endParaRPr lang="it-IT" sz="2000" dirty="0"/>
          </a:p>
          <a:p>
            <a:r>
              <a:rPr lang="it-IT" sz="2000" dirty="0" err="1"/>
              <a:t>Differences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2019 and 2020 are </a:t>
            </a:r>
            <a:r>
              <a:rPr lang="it-IT" sz="2000" dirty="0" err="1"/>
              <a:t>mainly</a:t>
            </a:r>
            <a:r>
              <a:rPr lang="it-IT" sz="2000" dirty="0"/>
              <a:t> </a:t>
            </a:r>
            <a:r>
              <a:rPr lang="it-IT" sz="2000" dirty="0" err="1"/>
              <a:t>expressed</a:t>
            </a:r>
            <a:r>
              <a:rPr lang="it-IT" sz="2000" dirty="0"/>
              <a:t> in </a:t>
            </a:r>
            <a:r>
              <a:rPr lang="it-IT" sz="2000" dirty="0" err="1"/>
              <a:t>terms</a:t>
            </a:r>
            <a:r>
              <a:rPr lang="it-IT" sz="2000" dirty="0"/>
              <a:t> of fine-scale </a:t>
            </a:r>
            <a:r>
              <a:rPr lang="it-IT" sz="2000" dirty="0" err="1"/>
              <a:t>spatial</a:t>
            </a:r>
            <a:r>
              <a:rPr lang="it-IT" sz="2000" dirty="0"/>
              <a:t> </a:t>
            </a:r>
            <a:r>
              <a:rPr lang="it-IT" sz="2000" dirty="0" err="1"/>
              <a:t>heterogeneity</a:t>
            </a:r>
            <a:r>
              <a:rPr lang="it-IT" sz="2000" dirty="0"/>
              <a:t> and highlight a general </a:t>
            </a:r>
            <a:r>
              <a:rPr lang="it-IT" sz="2000" dirty="0" err="1"/>
              <a:t>increment</a:t>
            </a:r>
            <a:r>
              <a:rPr lang="it-IT" sz="2000" dirty="0"/>
              <a:t> in </a:t>
            </a:r>
            <a:r>
              <a:rPr lang="it-IT" sz="2000" dirty="0" err="1"/>
              <a:t>spatial</a:t>
            </a:r>
            <a:r>
              <a:rPr lang="it-IT" sz="2000" dirty="0"/>
              <a:t> </a:t>
            </a:r>
            <a:r>
              <a:rPr lang="it-IT" sz="2000" dirty="0" err="1"/>
              <a:t>complexity</a:t>
            </a:r>
            <a:r>
              <a:rPr lang="it-IT" sz="2000" dirty="0"/>
              <a:t> in post-</a:t>
            </a:r>
            <a:r>
              <a:rPr lang="it-IT" sz="2000" dirty="0" err="1"/>
              <a:t>fire</a:t>
            </a:r>
            <a:r>
              <a:rPr lang="it-IT" sz="2000" dirty="0"/>
              <a:t> </a:t>
            </a:r>
            <a:r>
              <a:rPr lang="it-IT" sz="2000" dirty="0" err="1"/>
              <a:t>period</a:t>
            </a:r>
            <a:r>
              <a:rPr lang="it-IT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333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0BF107-DC03-5677-D163-31C175DE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dirty="0"/>
              <a:t>Code for SD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5EDE41-5756-D849-5884-B30C2706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2411"/>
            <a:ext cx="10515600" cy="484455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# </a:t>
            </a:r>
            <a:r>
              <a:rPr lang="it-IT" sz="1800" dirty="0" err="1"/>
              <a:t>Calculating</a:t>
            </a:r>
            <a:r>
              <a:rPr lang="it-IT" sz="1800" dirty="0"/>
              <a:t> the Standard </a:t>
            </a:r>
            <a:r>
              <a:rPr lang="it-IT" sz="1800" dirty="0" err="1"/>
              <a:t>Deviation</a:t>
            </a:r>
            <a:r>
              <a:rPr lang="it-IT" sz="1800" dirty="0"/>
              <a:t> (pcsd19), </a:t>
            </a:r>
            <a:r>
              <a:rPr lang="it-IT" sz="1800" dirty="0" err="1"/>
              <a:t>based</a:t>
            </a:r>
            <a:r>
              <a:rPr lang="it-IT" sz="1800" dirty="0"/>
              <a:t> on the </a:t>
            </a:r>
            <a:r>
              <a:rPr lang="it-IT" sz="1800" dirty="0" err="1"/>
              <a:t>principal</a:t>
            </a:r>
            <a:r>
              <a:rPr lang="it-IT" sz="1800" dirty="0"/>
              <a:t> </a:t>
            </a:r>
            <a:r>
              <a:rPr lang="it-IT" sz="1800" dirty="0" err="1"/>
              <a:t>components</a:t>
            </a:r>
            <a:r>
              <a:rPr lang="it-IT" sz="1800" dirty="0"/>
              <a:t>, to </a:t>
            </a:r>
            <a:r>
              <a:rPr lang="it-IT" sz="1800" dirty="0" err="1"/>
              <a:t>measure</a:t>
            </a:r>
            <a:r>
              <a:rPr lang="it-IT" sz="1800" dirty="0"/>
              <a:t> the </a:t>
            </a:r>
            <a:r>
              <a:rPr lang="it-IT" sz="1800" dirty="0" err="1"/>
              <a:t>spatial</a:t>
            </a:r>
            <a:r>
              <a:rPr lang="it-IT" sz="1800" dirty="0"/>
              <a:t> </a:t>
            </a:r>
            <a:r>
              <a:rPr lang="it-IT" sz="1800" dirty="0" err="1"/>
              <a:t>hetereogeneity</a:t>
            </a:r>
            <a:r>
              <a:rPr lang="it-IT" sz="1800" dirty="0"/>
              <a:t> of the </a:t>
            </a:r>
            <a:r>
              <a:rPr lang="it-IT" sz="1800" dirty="0" err="1"/>
              <a:t>landscape</a:t>
            </a:r>
            <a:r>
              <a:rPr lang="it-IT" sz="1800" dirty="0"/>
              <a:t>. </a:t>
            </a:r>
            <a:r>
              <a:rPr lang="it-IT" sz="1800" dirty="0" err="1"/>
              <a:t>I'm</a:t>
            </a:r>
            <a:r>
              <a:rPr lang="it-IT" sz="1800" dirty="0"/>
              <a:t> </a:t>
            </a:r>
            <a:r>
              <a:rPr lang="it-IT" sz="1800" dirty="0" err="1"/>
              <a:t>applying</a:t>
            </a:r>
            <a:r>
              <a:rPr lang="it-IT" sz="1800" dirty="0"/>
              <a:t> </a:t>
            </a:r>
            <a:r>
              <a:rPr lang="it-IT" sz="1800" dirty="0" err="1"/>
              <a:t>focal</a:t>
            </a:r>
            <a:r>
              <a:rPr lang="it-IT" sz="1800" dirty="0"/>
              <a:t>() </a:t>
            </a:r>
            <a:r>
              <a:rPr lang="it-IT" sz="1800" dirty="0" err="1"/>
              <a:t>function</a:t>
            </a:r>
            <a:r>
              <a:rPr lang="it-IT" sz="1800" dirty="0"/>
              <a:t> to </a:t>
            </a:r>
            <a:r>
              <a:rPr lang="it-IT" sz="1800" dirty="0" err="1"/>
              <a:t>calculate</a:t>
            </a:r>
            <a:r>
              <a:rPr lang="it-IT" sz="1800" dirty="0"/>
              <a:t> SD in a 3x3 </a:t>
            </a:r>
            <a:r>
              <a:rPr lang="it-IT" sz="1800" dirty="0" err="1"/>
              <a:t>moving</a:t>
            </a:r>
            <a:r>
              <a:rPr lang="it-IT" sz="1800" dirty="0"/>
              <a:t> window.</a:t>
            </a:r>
          </a:p>
          <a:p>
            <a:pPr marL="0" indent="0">
              <a:buNone/>
            </a:pPr>
            <a:r>
              <a:rPr lang="it-IT" sz="1800" dirty="0"/>
              <a:t># </a:t>
            </a:r>
            <a:r>
              <a:rPr lang="it-IT" sz="1800" dirty="0" err="1"/>
              <a:t>Areas</a:t>
            </a:r>
            <a:r>
              <a:rPr lang="it-IT" sz="1800" dirty="0"/>
              <a:t> with high SD indicate high </a:t>
            </a:r>
            <a:r>
              <a:rPr lang="it-IT" sz="1800" dirty="0" err="1"/>
              <a:t>landscape</a:t>
            </a:r>
            <a:r>
              <a:rPr lang="it-IT" sz="1800" dirty="0"/>
              <a:t> </a:t>
            </a:r>
            <a:r>
              <a:rPr lang="it-IT" sz="1800" dirty="0" err="1"/>
              <a:t>complexity</a:t>
            </a:r>
            <a:r>
              <a:rPr lang="it-IT" sz="1800" dirty="0"/>
              <a:t>.</a:t>
            </a:r>
          </a:p>
          <a:p>
            <a:pPr marL="0" indent="0">
              <a:buNone/>
            </a:pPr>
            <a:r>
              <a:rPr lang="it-IT" sz="1800" dirty="0"/>
              <a:t>pcsd19 &lt;- </a:t>
            </a:r>
            <a:r>
              <a:rPr lang="it-IT" sz="1800" dirty="0" err="1"/>
              <a:t>focal</a:t>
            </a:r>
            <a:r>
              <a:rPr lang="it-IT" sz="1800" dirty="0"/>
              <a:t>(compactpca19, </a:t>
            </a:r>
            <a:r>
              <a:rPr lang="it-IT" sz="1800" dirty="0" err="1"/>
              <a:t>matrix</a:t>
            </a:r>
            <a:r>
              <a:rPr lang="it-IT" sz="1800" dirty="0"/>
              <a:t>(1/9,3,3), </a:t>
            </a:r>
            <a:r>
              <a:rPr lang="it-IT" sz="1800" dirty="0" err="1"/>
              <a:t>fun</a:t>
            </a:r>
            <a:r>
              <a:rPr lang="it-IT" sz="1800" dirty="0"/>
              <a:t>=</a:t>
            </a:r>
            <a:r>
              <a:rPr lang="it-IT" sz="1800" dirty="0" err="1"/>
              <a:t>sd</a:t>
            </a:r>
            <a:r>
              <a:rPr lang="it-IT" sz="1800" dirty="0"/>
              <a:t>) 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# </a:t>
            </a:r>
            <a:r>
              <a:rPr lang="it-IT" sz="1800" dirty="0" err="1"/>
              <a:t>Calculating</a:t>
            </a:r>
            <a:r>
              <a:rPr lang="it-IT" sz="1800" dirty="0"/>
              <a:t> the Standard </a:t>
            </a:r>
            <a:r>
              <a:rPr lang="it-IT" sz="1800" dirty="0" err="1"/>
              <a:t>Deviation</a:t>
            </a:r>
            <a:r>
              <a:rPr lang="it-IT" sz="1800" dirty="0"/>
              <a:t> (pcsd20), </a:t>
            </a:r>
            <a:r>
              <a:rPr lang="it-IT" sz="1800" dirty="0" err="1"/>
              <a:t>based</a:t>
            </a:r>
            <a:r>
              <a:rPr lang="it-IT" sz="1800" dirty="0"/>
              <a:t> on the </a:t>
            </a:r>
            <a:r>
              <a:rPr lang="it-IT" sz="1800" dirty="0" err="1"/>
              <a:t>principal</a:t>
            </a:r>
            <a:r>
              <a:rPr lang="it-IT" sz="1800" dirty="0"/>
              <a:t> </a:t>
            </a:r>
            <a:r>
              <a:rPr lang="it-IT" sz="1800" dirty="0" err="1"/>
              <a:t>components</a:t>
            </a:r>
            <a:r>
              <a:rPr lang="it-IT" sz="1800" dirty="0"/>
              <a:t>, to </a:t>
            </a:r>
            <a:r>
              <a:rPr lang="it-IT" sz="1800" dirty="0" err="1"/>
              <a:t>measure</a:t>
            </a:r>
            <a:r>
              <a:rPr lang="it-IT" sz="1800" dirty="0"/>
              <a:t> the </a:t>
            </a:r>
            <a:r>
              <a:rPr lang="it-IT" sz="1800" dirty="0" err="1"/>
              <a:t>spatial</a:t>
            </a:r>
            <a:r>
              <a:rPr lang="it-IT" sz="1800" dirty="0"/>
              <a:t> </a:t>
            </a:r>
            <a:r>
              <a:rPr lang="it-IT" sz="1800" dirty="0" err="1"/>
              <a:t>hetereogeneity</a:t>
            </a:r>
            <a:r>
              <a:rPr lang="it-IT" sz="1800" dirty="0"/>
              <a:t> of the </a:t>
            </a:r>
            <a:r>
              <a:rPr lang="it-IT" sz="1800" dirty="0" err="1"/>
              <a:t>landscape</a:t>
            </a:r>
            <a:r>
              <a:rPr lang="it-IT" sz="1800" dirty="0"/>
              <a:t>. </a:t>
            </a:r>
            <a:r>
              <a:rPr lang="it-IT" sz="1800" dirty="0" err="1"/>
              <a:t>I'm</a:t>
            </a:r>
            <a:r>
              <a:rPr lang="it-IT" sz="1800" dirty="0"/>
              <a:t> </a:t>
            </a:r>
            <a:r>
              <a:rPr lang="it-IT" sz="1800" dirty="0" err="1"/>
              <a:t>applying</a:t>
            </a:r>
            <a:r>
              <a:rPr lang="it-IT" sz="1800" dirty="0"/>
              <a:t> </a:t>
            </a:r>
            <a:r>
              <a:rPr lang="it-IT" sz="1800" dirty="0" err="1"/>
              <a:t>focal</a:t>
            </a:r>
            <a:r>
              <a:rPr lang="it-IT" sz="1800" dirty="0"/>
              <a:t>() </a:t>
            </a:r>
            <a:r>
              <a:rPr lang="it-IT" sz="1800" dirty="0" err="1"/>
              <a:t>function</a:t>
            </a:r>
            <a:r>
              <a:rPr lang="it-IT" sz="1800" dirty="0"/>
              <a:t> to </a:t>
            </a:r>
            <a:r>
              <a:rPr lang="it-IT" sz="1800" dirty="0" err="1"/>
              <a:t>calculate</a:t>
            </a:r>
            <a:r>
              <a:rPr lang="it-IT" sz="1800" dirty="0"/>
              <a:t> SD in a 3x3 </a:t>
            </a:r>
            <a:r>
              <a:rPr lang="it-IT" sz="1800" dirty="0" err="1"/>
              <a:t>moving</a:t>
            </a:r>
            <a:r>
              <a:rPr lang="it-IT" sz="1800" dirty="0"/>
              <a:t> window.</a:t>
            </a:r>
          </a:p>
          <a:p>
            <a:pPr marL="0" indent="0">
              <a:buNone/>
            </a:pPr>
            <a:r>
              <a:rPr lang="it-IT" sz="1800" dirty="0"/>
              <a:t>pcsd20 &lt;- </a:t>
            </a:r>
            <a:r>
              <a:rPr lang="it-IT" sz="1800" dirty="0" err="1"/>
              <a:t>focal</a:t>
            </a:r>
            <a:r>
              <a:rPr lang="it-IT" sz="1800" dirty="0"/>
              <a:t>(compactpca20, </a:t>
            </a:r>
            <a:r>
              <a:rPr lang="it-IT" sz="1800" dirty="0" err="1"/>
              <a:t>matrix</a:t>
            </a:r>
            <a:r>
              <a:rPr lang="it-IT" sz="1800" dirty="0"/>
              <a:t>(1/9,3,3), </a:t>
            </a:r>
            <a:r>
              <a:rPr lang="it-IT" sz="1800" dirty="0" err="1"/>
              <a:t>fun</a:t>
            </a:r>
            <a:r>
              <a:rPr lang="it-IT" sz="1800" dirty="0"/>
              <a:t>=</a:t>
            </a:r>
            <a:r>
              <a:rPr lang="it-IT" sz="1800" dirty="0" err="1"/>
              <a:t>sd</a:t>
            </a:r>
            <a:r>
              <a:rPr lang="it-IT" sz="1800" dirty="0"/>
              <a:t>) 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par(</a:t>
            </a:r>
            <a:r>
              <a:rPr lang="it-IT" sz="1800" dirty="0" err="1"/>
              <a:t>mfrow</a:t>
            </a:r>
            <a:r>
              <a:rPr lang="it-IT" sz="1800" dirty="0"/>
              <a:t>=c(2,1))</a:t>
            </a:r>
          </a:p>
          <a:p>
            <a:pPr marL="0" indent="0">
              <a:buNone/>
            </a:pPr>
            <a:r>
              <a:rPr lang="it-IT" sz="1800" dirty="0"/>
              <a:t>plot(pcsd19, col=</a:t>
            </a:r>
            <a:r>
              <a:rPr lang="it-IT" sz="1800" dirty="0" err="1"/>
              <a:t>viridis</a:t>
            </a:r>
            <a:r>
              <a:rPr lang="it-IT" sz="1800" dirty="0"/>
              <a:t>(100), </a:t>
            </a:r>
            <a:r>
              <a:rPr lang="it-IT" sz="1800" dirty="0" err="1"/>
              <a:t>main</a:t>
            </a:r>
            <a:r>
              <a:rPr lang="it-IT" sz="1800" dirty="0"/>
              <a:t> = "</a:t>
            </a:r>
            <a:r>
              <a:rPr lang="it-IT" sz="1800" dirty="0" err="1"/>
              <a:t>Landscape</a:t>
            </a:r>
            <a:r>
              <a:rPr lang="it-IT" sz="1800" dirty="0"/>
              <a:t> </a:t>
            </a:r>
            <a:r>
              <a:rPr lang="it-IT" sz="1800" dirty="0" err="1"/>
              <a:t>Variability</a:t>
            </a:r>
            <a:r>
              <a:rPr lang="it-IT" sz="1800" dirty="0"/>
              <a:t> 2019 (SD)")</a:t>
            </a:r>
          </a:p>
          <a:p>
            <a:pPr marL="0" indent="0">
              <a:buNone/>
            </a:pPr>
            <a:r>
              <a:rPr lang="it-IT" sz="1800" dirty="0"/>
              <a:t>plot(pcsd20, col=</a:t>
            </a:r>
            <a:r>
              <a:rPr lang="it-IT" sz="1800" dirty="0" err="1"/>
              <a:t>viridis</a:t>
            </a:r>
            <a:r>
              <a:rPr lang="it-IT" sz="1800" dirty="0"/>
              <a:t>(100), </a:t>
            </a:r>
            <a:r>
              <a:rPr lang="it-IT" sz="1800" dirty="0" err="1"/>
              <a:t>main</a:t>
            </a:r>
            <a:r>
              <a:rPr lang="it-IT" sz="1800" dirty="0"/>
              <a:t> = "</a:t>
            </a:r>
            <a:r>
              <a:rPr lang="it-IT" sz="1800" dirty="0" err="1"/>
              <a:t>Landscape</a:t>
            </a:r>
            <a:r>
              <a:rPr lang="it-IT" sz="1800" dirty="0"/>
              <a:t> </a:t>
            </a:r>
            <a:r>
              <a:rPr lang="it-IT" sz="1800" dirty="0" err="1"/>
              <a:t>Variability</a:t>
            </a:r>
            <a:r>
              <a:rPr lang="it-IT" sz="1800" dirty="0"/>
              <a:t> 2020 (SD)")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010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15526B-514E-83BC-443C-FDD844A77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it-IT" sz="4400" b="1" dirty="0" err="1"/>
              <a:t>Quantifying</a:t>
            </a:r>
            <a:r>
              <a:rPr lang="it-IT" sz="4400" b="1" dirty="0"/>
              <a:t> </a:t>
            </a:r>
            <a:r>
              <a:rPr lang="it-IT" sz="4400" b="1" dirty="0" err="1"/>
              <a:t>Change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17F59D-D051-121C-37DB-6B3B7556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394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8FD107-0CC6-005B-E101-82EE4626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b="1" dirty="0"/>
              <a:t>Land Cover </a:t>
            </a:r>
            <a:r>
              <a:rPr lang="it-IT" sz="4400" b="1" dirty="0" err="1"/>
              <a:t>Classification</a:t>
            </a:r>
            <a:endParaRPr lang="it-IT" b="1" dirty="0"/>
          </a:p>
        </p:txBody>
      </p:sp>
      <p:pic>
        <p:nvPicPr>
          <p:cNvPr id="5" name="Segnaposto contenuto 4" descr="Immagine che contiene testo, schermata, Carattere, giallo&#10;&#10;Descrizione generata automaticamente">
            <a:extLst>
              <a:ext uri="{FF2B5EF4-FFF2-40B4-BE49-F238E27FC236}">
                <a16:creationId xmlns:a16="http://schemas.microsoft.com/office/drawing/2014/main" id="{FDD286ED-D200-AD4D-E19A-A2FC3855C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97000"/>
            <a:ext cx="4775200" cy="5463042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B9ED2AB-813B-7504-6D94-C74C01D3F3A7}"/>
              </a:ext>
            </a:extLst>
          </p:cNvPr>
          <p:cNvSpPr txBox="1"/>
          <p:nvPr/>
        </p:nvSpPr>
        <p:spPr>
          <a:xfrm>
            <a:off x="5613400" y="1633765"/>
            <a:ext cx="63119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r>
              <a:rPr lang="it-IT" dirty="0">
                <a:solidFill>
                  <a:srgbClr val="0070C0"/>
                </a:solidFill>
              </a:rPr>
              <a:t>2019</a:t>
            </a:r>
            <a:r>
              <a:rPr lang="it-IT" dirty="0"/>
              <a:t>: large and </a:t>
            </a:r>
            <a:r>
              <a:rPr lang="it-IT" dirty="0" err="1"/>
              <a:t>continuous</a:t>
            </a:r>
            <a:r>
              <a:rPr lang="it-IT" dirty="0"/>
              <a:t> patches of the </a:t>
            </a:r>
            <a:r>
              <a:rPr lang="it-IT" dirty="0" err="1"/>
              <a:t>two</a:t>
            </a:r>
            <a:r>
              <a:rPr lang="it-IT" dirty="0"/>
              <a:t> classes. </a:t>
            </a:r>
            <a:r>
              <a:rPr lang="it-IT" dirty="0" err="1"/>
              <a:t>Reflects</a:t>
            </a:r>
            <a:r>
              <a:rPr lang="it-IT" dirty="0"/>
              <a:t> moderate </a:t>
            </a:r>
            <a:r>
              <a:rPr lang="it-IT" dirty="0" err="1"/>
              <a:t>landscape</a:t>
            </a:r>
            <a:r>
              <a:rPr lang="it-IT" dirty="0"/>
              <a:t> </a:t>
            </a:r>
            <a:r>
              <a:rPr lang="it-IT" dirty="0" err="1"/>
              <a:t>variability</a:t>
            </a:r>
            <a:r>
              <a:rPr lang="it-IT" dirty="0"/>
              <a:t> and a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environment</a:t>
            </a:r>
            <a:r>
              <a:rPr lang="it-IT" dirty="0"/>
              <a:t>, </a:t>
            </a:r>
            <a:r>
              <a:rPr lang="it-IT" dirty="0" err="1"/>
              <a:t>consistent</a:t>
            </a:r>
            <a:r>
              <a:rPr lang="it-IT" dirty="0"/>
              <a:t> with a </a:t>
            </a:r>
            <a:r>
              <a:rPr lang="it-IT" dirty="0" err="1"/>
              <a:t>healthy</a:t>
            </a:r>
            <a:r>
              <a:rPr lang="it-IT" dirty="0"/>
              <a:t> </a:t>
            </a:r>
            <a:r>
              <a:rPr lang="it-IT" dirty="0" err="1"/>
              <a:t>forest</a:t>
            </a:r>
            <a:r>
              <a:rPr lang="it-IT" dirty="0"/>
              <a:t>.</a:t>
            </a:r>
          </a:p>
          <a:p>
            <a:r>
              <a:rPr lang="it-IT" dirty="0">
                <a:solidFill>
                  <a:srgbClr val="FF0000"/>
                </a:solidFill>
              </a:rPr>
              <a:t>2020</a:t>
            </a:r>
            <a:r>
              <a:rPr lang="it-IT" dirty="0"/>
              <a:t>: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fragmentation</a:t>
            </a:r>
            <a:r>
              <a:rPr lang="it-IT" dirty="0"/>
              <a:t> and a more </a:t>
            </a:r>
            <a:r>
              <a:rPr lang="it-IT" dirty="0" err="1"/>
              <a:t>irregular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 of small patches. </a:t>
            </a:r>
          </a:p>
          <a:p>
            <a:endParaRPr lang="it-IT" dirty="0"/>
          </a:p>
          <a:p>
            <a:r>
              <a:rPr lang="it-IT" dirty="0"/>
              <a:t>Due to </a:t>
            </a:r>
            <a:r>
              <a:rPr lang="it-IT" b="1" dirty="0" err="1"/>
              <a:t>unsupervised</a:t>
            </a:r>
            <a:r>
              <a:rPr lang="it-IT" b="1" dirty="0"/>
              <a:t> </a:t>
            </a:r>
            <a:r>
              <a:rPr lang="it-IT" b="1" dirty="0" err="1"/>
              <a:t>classification</a:t>
            </a:r>
            <a:r>
              <a:rPr lang="it-IT" b="1" dirty="0"/>
              <a:t> </a:t>
            </a:r>
            <a:r>
              <a:rPr lang="it-IT" dirty="0" err="1"/>
              <a:t>function</a:t>
            </a:r>
            <a:r>
              <a:rPr lang="it-IT" dirty="0"/>
              <a:t> the </a:t>
            </a:r>
            <a:r>
              <a:rPr lang="it-IT" dirty="0" err="1"/>
              <a:t>numbers</a:t>
            </a:r>
            <a:r>
              <a:rPr lang="it-IT" dirty="0"/>
              <a:t> of the </a:t>
            </a:r>
            <a:r>
              <a:rPr lang="it-IT" dirty="0" err="1"/>
              <a:t>two</a:t>
            </a:r>
            <a:r>
              <a:rPr lang="it-IT" dirty="0"/>
              <a:t> classes are </a:t>
            </a:r>
            <a:r>
              <a:rPr lang="it-IT" dirty="0" err="1"/>
              <a:t>inverted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2019 and 2020. The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indicate a </a:t>
            </a:r>
            <a:r>
              <a:rPr lang="it-IT" dirty="0" err="1"/>
              <a:t>reduction</a:t>
            </a:r>
            <a:r>
              <a:rPr lang="it-IT" dirty="0"/>
              <a:t> of 2.5% in </a:t>
            </a:r>
            <a:r>
              <a:rPr lang="it-IT" dirty="0" err="1"/>
              <a:t>Forest</a:t>
            </a:r>
            <a:r>
              <a:rPr lang="it-IT" dirty="0"/>
              <a:t> class in 2020 after </a:t>
            </a:r>
            <a:r>
              <a:rPr lang="it-IT" dirty="0" err="1"/>
              <a:t>bushfires</a:t>
            </a:r>
            <a:r>
              <a:rPr lang="it-IT" dirty="0"/>
              <a:t>. </a:t>
            </a:r>
          </a:p>
          <a:p>
            <a:r>
              <a:rPr lang="it-IT" dirty="0" err="1"/>
              <a:t>Although</a:t>
            </a:r>
            <a:r>
              <a:rPr lang="it-IT" dirty="0"/>
              <a:t>, </a:t>
            </a:r>
            <a:r>
              <a:rPr lang="it-IT" dirty="0" err="1"/>
              <a:t>because</a:t>
            </a:r>
            <a:r>
              <a:rPr lang="it-IT" dirty="0"/>
              <a:t> the </a:t>
            </a:r>
            <a:r>
              <a:rPr lang="it-IT" dirty="0" err="1"/>
              <a:t>classification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unsupervised</a:t>
            </a:r>
            <a:r>
              <a:rPr lang="it-IT" dirty="0"/>
              <a:t>, class </a:t>
            </a:r>
            <a:r>
              <a:rPr lang="it-IT" dirty="0" err="1"/>
              <a:t>proportions</a:t>
            </a:r>
            <a:r>
              <a:rPr lang="it-IT" dirty="0"/>
              <a:t> </a:t>
            </a:r>
            <a:r>
              <a:rPr lang="it-IT" dirty="0" err="1"/>
              <a:t>represent</a:t>
            </a:r>
            <a:r>
              <a:rPr lang="it-IT" dirty="0"/>
              <a:t> </a:t>
            </a:r>
            <a:r>
              <a:rPr lang="it-IT" dirty="0" err="1"/>
              <a:t>changes</a:t>
            </a:r>
            <a:r>
              <a:rPr lang="it-IT" dirty="0"/>
              <a:t> in </a:t>
            </a:r>
            <a:r>
              <a:rPr lang="it-IT" dirty="0" err="1"/>
              <a:t>spatial</a:t>
            </a:r>
            <a:r>
              <a:rPr lang="it-IT" dirty="0"/>
              <a:t> </a:t>
            </a:r>
            <a:r>
              <a:rPr lang="it-IT" dirty="0" err="1"/>
              <a:t>configuration</a:t>
            </a:r>
            <a:r>
              <a:rPr lang="it-IT" dirty="0"/>
              <a:t> and </a:t>
            </a:r>
            <a:r>
              <a:rPr lang="it-IT" dirty="0" err="1"/>
              <a:t>spectral</a:t>
            </a:r>
            <a:r>
              <a:rPr lang="it-IT" dirty="0"/>
              <a:t> </a:t>
            </a:r>
            <a:r>
              <a:rPr lang="it-IT" dirty="0" err="1"/>
              <a:t>similarity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 gain or </a:t>
            </a:r>
            <a:r>
              <a:rPr lang="it-IT" dirty="0" err="1"/>
              <a:t>loss</a:t>
            </a:r>
            <a:r>
              <a:rPr lang="it-IT" dirty="0"/>
              <a:t> in </a:t>
            </a:r>
            <a:r>
              <a:rPr lang="it-IT" dirty="0" err="1"/>
              <a:t>forest</a:t>
            </a:r>
            <a:r>
              <a:rPr lang="it-IT" dirty="0"/>
              <a:t> </a:t>
            </a:r>
            <a:r>
              <a:rPr lang="it-IT" dirty="0" err="1"/>
              <a:t>covered</a:t>
            </a:r>
            <a:r>
              <a:rPr lang="it-IT" dirty="0"/>
              <a:t> area. </a:t>
            </a:r>
            <a:r>
              <a:rPr lang="it-IT" dirty="0" err="1"/>
              <a:t>This</a:t>
            </a:r>
            <a:r>
              <a:rPr lang="it-IT" dirty="0"/>
              <a:t> pattern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consistent</a:t>
            </a:r>
            <a:r>
              <a:rPr lang="it-IT" dirty="0"/>
              <a:t> with the general </a:t>
            </a:r>
            <a:r>
              <a:rPr lang="it-IT" dirty="0" err="1"/>
              <a:t>loss</a:t>
            </a:r>
            <a:r>
              <a:rPr lang="it-IT" dirty="0"/>
              <a:t> of NDVI in 2020 and </a:t>
            </a:r>
            <a:r>
              <a:rPr lang="it-IT" dirty="0" err="1"/>
              <a:t>increased</a:t>
            </a:r>
            <a:r>
              <a:rPr lang="it-IT" dirty="0"/>
              <a:t> </a:t>
            </a:r>
            <a:r>
              <a:rPr lang="it-IT" dirty="0" err="1"/>
              <a:t>landscape</a:t>
            </a:r>
            <a:r>
              <a:rPr lang="it-IT" dirty="0"/>
              <a:t> </a:t>
            </a:r>
            <a:r>
              <a:rPr lang="it-IT" dirty="0" err="1"/>
              <a:t>fragmentation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5D9485-AF4A-B841-4EF4-EF549AD22DAF}"/>
              </a:ext>
            </a:extLst>
          </p:cNvPr>
          <p:cNvSpPr txBox="1"/>
          <p:nvPr/>
        </p:nvSpPr>
        <p:spPr>
          <a:xfrm>
            <a:off x="7575550" y="592053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70C0"/>
                </a:solidFill>
              </a:rPr>
              <a:t>2019</a:t>
            </a:r>
            <a:r>
              <a:rPr lang="it-IT" dirty="0"/>
              <a:t>: "Forest" coverage -&gt; 31.89005%</a:t>
            </a:r>
          </a:p>
          <a:p>
            <a:r>
              <a:rPr lang="it-IT" dirty="0">
                <a:solidFill>
                  <a:srgbClr val="FF0000"/>
                </a:solidFill>
              </a:rPr>
              <a:t>2020</a:t>
            </a:r>
            <a:r>
              <a:rPr lang="it-IT" dirty="0"/>
              <a:t>: "Forest" coverage -&gt; 29.38597%</a:t>
            </a:r>
          </a:p>
          <a:p>
            <a:r>
              <a:rPr lang="it-IT" dirty="0"/>
              <a:t>Net </a:t>
            </a:r>
            <a:r>
              <a:rPr lang="it-IT" dirty="0" err="1"/>
              <a:t>loss</a:t>
            </a:r>
            <a:r>
              <a:rPr lang="it-IT" dirty="0"/>
              <a:t> = ~2.5% of "</a:t>
            </a:r>
            <a:r>
              <a:rPr lang="it-IT" dirty="0" err="1"/>
              <a:t>Forest</a:t>
            </a:r>
            <a:r>
              <a:rPr lang="it-IT" dirty="0"/>
              <a:t>" coverage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CF9DC6E-4E2E-05CD-EA37-BDAD791901DB}"/>
              </a:ext>
            </a:extLst>
          </p:cNvPr>
          <p:cNvSpPr txBox="1"/>
          <p:nvPr/>
        </p:nvSpPr>
        <p:spPr>
          <a:xfrm>
            <a:off x="4445001" y="215900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"</a:t>
            </a:r>
            <a:r>
              <a:rPr lang="it-IT" sz="1400" dirty="0" err="1"/>
              <a:t>Forest</a:t>
            </a:r>
            <a:r>
              <a:rPr lang="it-IT" sz="1400" dirty="0"/>
              <a:t>"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61CC319-1C78-0E50-D76E-56FE50148491}"/>
              </a:ext>
            </a:extLst>
          </p:cNvPr>
          <p:cNvSpPr txBox="1"/>
          <p:nvPr/>
        </p:nvSpPr>
        <p:spPr>
          <a:xfrm>
            <a:off x="4445001" y="468630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"</a:t>
            </a:r>
            <a:r>
              <a:rPr lang="it-IT" sz="1400" dirty="0" err="1"/>
              <a:t>Forest</a:t>
            </a:r>
            <a:r>
              <a:rPr lang="it-IT" sz="1400" dirty="0"/>
              <a:t>"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BEFABD3-C8F9-B502-B8E4-CF5586EB86A9}"/>
              </a:ext>
            </a:extLst>
          </p:cNvPr>
          <p:cNvSpPr txBox="1"/>
          <p:nvPr/>
        </p:nvSpPr>
        <p:spPr>
          <a:xfrm>
            <a:off x="4445001" y="200511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Others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C40FA23-0C0D-ABF8-96A7-27444380C24F}"/>
              </a:ext>
            </a:extLst>
          </p:cNvPr>
          <p:cNvSpPr txBox="1"/>
          <p:nvPr/>
        </p:nvSpPr>
        <p:spPr>
          <a:xfrm>
            <a:off x="4445001" y="488931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Others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D7AAAF4-FC22-53BA-13EC-99FEB2347E16}"/>
              </a:ext>
            </a:extLst>
          </p:cNvPr>
          <p:cNvSpPr/>
          <p:nvPr/>
        </p:nvSpPr>
        <p:spPr>
          <a:xfrm>
            <a:off x="190500" y="2005111"/>
            <a:ext cx="1244600" cy="160168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653EBFA-1405-A67E-CCB6-CF06F0FAB7A3}"/>
              </a:ext>
            </a:extLst>
          </p:cNvPr>
          <p:cNvSpPr txBox="1"/>
          <p:nvPr/>
        </p:nvSpPr>
        <p:spPr>
          <a:xfrm>
            <a:off x="190500" y="2005111"/>
            <a:ext cx="13335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"</a:t>
            </a:r>
            <a:r>
              <a:rPr lang="it-IT" sz="1200" b="1" dirty="0" err="1"/>
              <a:t>Forest</a:t>
            </a:r>
            <a:r>
              <a:rPr lang="it-IT" sz="1200" dirty="0"/>
              <a:t> "</a:t>
            </a:r>
            <a:r>
              <a:rPr lang="it-IT" sz="1200" b="1" dirty="0"/>
              <a:t>=</a:t>
            </a:r>
            <a:r>
              <a:rPr lang="it-IT" sz="1200" dirty="0"/>
              <a:t> high NDVI </a:t>
            </a:r>
            <a:r>
              <a:rPr lang="it-IT" sz="1200" dirty="0" err="1"/>
              <a:t>vegetation</a:t>
            </a:r>
            <a:br>
              <a:rPr lang="it-IT" sz="1200" dirty="0"/>
            </a:br>
            <a:r>
              <a:rPr lang="it-IT" sz="1200" b="1" dirty="0"/>
              <a:t>Others =</a:t>
            </a:r>
            <a:r>
              <a:rPr lang="it-IT" sz="1200" dirty="0"/>
              <a:t> low NDVI </a:t>
            </a:r>
            <a:r>
              <a:rPr lang="it-IT" sz="1200" dirty="0" err="1"/>
              <a:t>surfaces</a:t>
            </a:r>
            <a:r>
              <a:rPr lang="it-IT" sz="1200" dirty="0"/>
              <a:t> (</a:t>
            </a:r>
            <a:r>
              <a:rPr lang="it-IT" sz="1200" dirty="0" err="1"/>
              <a:t>stressed</a:t>
            </a:r>
            <a:r>
              <a:rPr lang="it-IT" sz="1200" dirty="0"/>
              <a:t> </a:t>
            </a:r>
            <a:r>
              <a:rPr lang="it-IT" sz="1200" dirty="0" err="1"/>
              <a:t>vegetation</a:t>
            </a:r>
            <a:r>
              <a:rPr lang="it-IT" sz="1200" dirty="0"/>
              <a:t>, </a:t>
            </a:r>
            <a:r>
              <a:rPr lang="it-IT" sz="1200" dirty="0" err="1"/>
              <a:t>soil</a:t>
            </a:r>
            <a:r>
              <a:rPr lang="it-IT" sz="1200" dirty="0"/>
              <a:t>, rocks, </a:t>
            </a:r>
            <a:r>
              <a:rPr lang="it-IT" sz="1200" dirty="0" err="1"/>
              <a:t>burned</a:t>
            </a:r>
            <a:r>
              <a:rPr lang="it-IT" sz="1200" dirty="0"/>
              <a:t> </a:t>
            </a:r>
            <a:r>
              <a:rPr lang="it-IT" sz="1200" dirty="0" err="1"/>
              <a:t>areas</a:t>
            </a:r>
            <a:r>
              <a:rPr lang="it-IT" sz="1200" dirty="0"/>
              <a:t>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839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A2BF16-1FF3-609E-AF29-CCB91E3C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dirty="0"/>
              <a:t>Code for </a:t>
            </a:r>
            <a:r>
              <a:rPr lang="it-IT" sz="2400" b="1" dirty="0" err="1"/>
              <a:t>Classification</a:t>
            </a:r>
            <a:endParaRPr lang="it-IT" sz="2400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2502BC-D599-8B96-E07F-C34F5EC62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477"/>
            <a:ext cx="10515600" cy="5341825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</a:t>
            </a:r>
            <a:r>
              <a:rPr lang="it-IT" sz="1300" dirty="0" err="1"/>
              <a:t>Classifying</a:t>
            </a:r>
            <a:r>
              <a:rPr lang="it-IT" sz="1300" dirty="0"/>
              <a:t> the image </a:t>
            </a:r>
            <a:r>
              <a:rPr lang="it-IT" sz="1300" dirty="0" err="1"/>
              <a:t>into</a:t>
            </a:r>
            <a:r>
              <a:rPr lang="it-IT" sz="1300" dirty="0"/>
              <a:t> 2 clusters: "</a:t>
            </a:r>
            <a:r>
              <a:rPr lang="it-IT" sz="1300" dirty="0" err="1"/>
              <a:t>Forest</a:t>
            </a:r>
            <a:r>
              <a:rPr lang="it-IT" sz="1300" dirty="0"/>
              <a:t>" (</a:t>
            </a:r>
            <a:r>
              <a:rPr lang="it-IT" sz="1300" dirty="0" err="1"/>
              <a:t>vegetation</a:t>
            </a:r>
            <a:r>
              <a:rPr lang="it-IT" sz="1300" dirty="0"/>
              <a:t>) and Others (rocks/water/bare </a:t>
            </a:r>
            <a:r>
              <a:rPr lang="it-IT" sz="1300" dirty="0" err="1"/>
              <a:t>soil</a:t>
            </a:r>
            <a:r>
              <a:rPr lang="it-IT" sz="1300" dirty="0"/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cl19 &lt;- </a:t>
            </a:r>
            <a:r>
              <a:rPr lang="it-IT" sz="1300" dirty="0" err="1"/>
              <a:t>im.classify</a:t>
            </a:r>
            <a:r>
              <a:rPr lang="it-IT" sz="1300" dirty="0"/>
              <a:t>(stack19, </a:t>
            </a:r>
            <a:r>
              <a:rPr lang="it-IT" sz="1300" dirty="0" err="1"/>
              <a:t>num_clusters</a:t>
            </a:r>
            <a:r>
              <a:rPr lang="it-IT" sz="1300" dirty="0"/>
              <a:t>=2)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cl20 &lt;- </a:t>
            </a:r>
            <a:r>
              <a:rPr lang="it-IT" sz="1300" dirty="0" err="1"/>
              <a:t>im.classify</a:t>
            </a:r>
            <a:r>
              <a:rPr lang="it-IT" sz="1300" dirty="0"/>
              <a:t>(stack20, </a:t>
            </a:r>
            <a:r>
              <a:rPr lang="it-IT" sz="1300" dirty="0" err="1"/>
              <a:t>num_clusters</a:t>
            </a:r>
            <a:r>
              <a:rPr lang="it-IT" sz="1300" dirty="0"/>
              <a:t>=2)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13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</a:t>
            </a:r>
            <a:r>
              <a:rPr lang="it-IT" sz="1300" dirty="0" err="1"/>
              <a:t>Calculating</a:t>
            </a:r>
            <a:r>
              <a:rPr lang="it-IT" sz="1300" dirty="0"/>
              <a:t> the frequencies to </a:t>
            </a:r>
            <a:r>
              <a:rPr lang="it-IT" sz="1300" dirty="0" err="1"/>
              <a:t>get</a:t>
            </a:r>
            <a:r>
              <a:rPr lang="it-IT" sz="1300" dirty="0"/>
              <a:t> the </a:t>
            </a:r>
            <a:r>
              <a:rPr lang="it-IT" sz="1300" dirty="0" err="1"/>
              <a:t>percentage</a:t>
            </a:r>
            <a:r>
              <a:rPr lang="it-IT" sz="1300" dirty="0"/>
              <a:t> of </a:t>
            </a:r>
            <a:r>
              <a:rPr lang="it-IT" sz="1300" dirty="0" err="1"/>
              <a:t>land</a:t>
            </a:r>
            <a:r>
              <a:rPr lang="it-IT" sz="1300" dirty="0"/>
              <a:t> cover of </a:t>
            </a:r>
            <a:r>
              <a:rPr lang="it-IT" sz="1300" dirty="0" err="1"/>
              <a:t>each</a:t>
            </a:r>
            <a:r>
              <a:rPr lang="it-IT" sz="1300" dirty="0"/>
              <a:t> </a:t>
            </a:r>
            <a:r>
              <a:rPr lang="it-IT" sz="1300" dirty="0" err="1"/>
              <a:t>land</a:t>
            </a:r>
            <a:r>
              <a:rPr lang="it-IT" sz="1300" dirty="0"/>
              <a:t> cover class.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f19 &lt;- </a:t>
            </a:r>
            <a:r>
              <a:rPr lang="it-IT" sz="1300" dirty="0" err="1"/>
              <a:t>freq</a:t>
            </a:r>
            <a:r>
              <a:rPr lang="it-IT" sz="1300" dirty="0"/>
              <a:t>(cl19) # </a:t>
            </a:r>
            <a:r>
              <a:rPr lang="it-IT" sz="1300" dirty="0" err="1"/>
              <a:t>Number</a:t>
            </a:r>
            <a:r>
              <a:rPr lang="it-IT" sz="1300" dirty="0"/>
              <a:t> of pixels for </a:t>
            </a:r>
            <a:r>
              <a:rPr lang="it-IT" sz="1300" dirty="0" err="1"/>
              <a:t>each</a:t>
            </a:r>
            <a:r>
              <a:rPr lang="it-IT" sz="1300" dirty="0"/>
              <a:t> class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tot19 &lt;- </a:t>
            </a:r>
            <a:r>
              <a:rPr lang="it-IT" sz="1300" dirty="0" err="1"/>
              <a:t>ncell</a:t>
            </a:r>
            <a:r>
              <a:rPr lang="it-IT" sz="1300" dirty="0"/>
              <a:t>(cl19) # Total </a:t>
            </a:r>
            <a:r>
              <a:rPr lang="it-IT" sz="1300" dirty="0" err="1"/>
              <a:t>number</a:t>
            </a:r>
            <a:r>
              <a:rPr lang="it-IT" sz="1300" dirty="0"/>
              <a:t> of pixels in the image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p19 &lt;- f19*100/tot19 # </a:t>
            </a:r>
            <a:r>
              <a:rPr lang="it-IT" sz="1300" dirty="0" err="1"/>
              <a:t>Percentage</a:t>
            </a:r>
            <a:r>
              <a:rPr lang="it-IT" sz="1300" dirty="0"/>
              <a:t> for </a:t>
            </a:r>
            <a:r>
              <a:rPr lang="it-IT" sz="1300" dirty="0" err="1"/>
              <a:t>each</a:t>
            </a:r>
            <a:r>
              <a:rPr lang="it-IT" sz="1300" dirty="0"/>
              <a:t> class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p19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Class 1 ("</a:t>
            </a:r>
            <a:r>
              <a:rPr lang="it-IT" sz="1300" dirty="0" err="1"/>
              <a:t>Forest</a:t>
            </a:r>
            <a:r>
              <a:rPr lang="it-IT" sz="1300" dirty="0"/>
              <a:t>") = 31.89005%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Class 2 (Others) = 68.10995%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13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f20 &lt;- </a:t>
            </a:r>
            <a:r>
              <a:rPr lang="it-IT" sz="1300" dirty="0" err="1"/>
              <a:t>freq</a:t>
            </a:r>
            <a:r>
              <a:rPr lang="it-IT" sz="1300" dirty="0"/>
              <a:t>(cl20)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tot20 &lt;- </a:t>
            </a:r>
            <a:r>
              <a:rPr lang="it-IT" sz="1300" dirty="0" err="1"/>
              <a:t>ncell</a:t>
            </a:r>
            <a:r>
              <a:rPr lang="it-IT" sz="1300" dirty="0"/>
              <a:t>(cl20)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p20 &lt;- f20*100/tot20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p20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Class 1 (Others) = 70.61403%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# Class 2 ("</a:t>
            </a:r>
            <a:r>
              <a:rPr lang="it-IT" sz="1300" dirty="0" err="1"/>
              <a:t>Forest</a:t>
            </a:r>
            <a:r>
              <a:rPr lang="it-IT" sz="1300" dirty="0"/>
              <a:t>") = 29.38597%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13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par(</a:t>
            </a:r>
            <a:r>
              <a:rPr lang="it-IT" sz="1300" dirty="0" err="1"/>
              <a:t>mfrow</a:t>
            </a:r>
            <a:r>
              <a:rPr lang="it-IT" sz="1300" dirty="0"/>
              <a:t>=c(2,1))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plot(cl19, </a:t>
            </a:r>
            <a:r>
              <a:rPr lang="it-IT" sz="1300" dirty="0" err="1"/>
              <a:t>main</a:t>
            </a:r>
            <a:r>
              <a:rPr lang="it-IT" sz="1300" dirty="0"/>
              <a:t> = "Land Cover </a:t>
            </a:r>
            <a:r>
              <a:rPr lang="it-IT" sz="1300" dirty="0" err="1"/>
              <a:t>Classification</a:t>
            </a:r>
            <a:r>
              <a:rPr lang="it-IT" sz="1300" dirty="0"/>
              <a:t> 2019")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1300" dirty="0"/>
              <a:t>plot(cl20, </a:t>
            </a:r>
            <a:r>
              <a:rPr lang="it-IT" sz="1300" dirty="0" err="1"/>
              <a:t>main</a:t>
            </a:r>
            <a:r>
              <a:rPr lang="it-IT" sz="1300" dirty="0"/>
              <a:t> = "Land Cover </a:t>
            </a:r>
            <a:r>
              <a:rPr lang="it-IT" sz="1300" dirty="0" err="1"/>
              <a:t>Classification</a:t>
            </a:r>
            <a:r>
              <a:rPr lang="it-IT" sz="1300" dirty="0"/>
              <a:t> 2020")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1260758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3A739-978C-281D-7618-A1FB0304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b="1" dirty="0"/>
              <a:t>Statistical </a:t>
            </a:r>
            <a:r>
              <a:rPr lang="it-IT" sz="4400" b="1" dirty="0" err="1"/>
              <a:t>Synthesis</a:t>
            </a:r>
            <a:r>
              <a:rPr lang="it-IT" sz="4400" b="1" dirty="0"/>
              <a:t> (ggplot2)</a:t>
            </a:r>
            <a:endParaRPr lang="it-IT" b="1" dirty="0"/>
          </a:p>
        </p:txBody>
      </p:sp>
      <p:pic>
        <p:nvPicPr>
          <p:cNvPr id="5" name="Segnaposto contenuto 4" descr="Immagine che contiene testo, schermata, diagramma, quadrato&#10;&#10;Descrizione generata automaticamente">
            <a:extLst>
              <a:ext uri="{FF2B5EF4-FFF2-40B4-BE49-F238E27FC236}">
                <a16:creationId xmlns:a16="http://schemas.microsoft.com/office/drawing/2014/main" id="{9C7D3BE6-9129-8E2D-E2C4-C566BFB2F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901" y="1598370"/>
            <a:ext cx="4597400" cy="5259630"/>
          </a:xfrm>
        </p:spPr>
      </p:pic>
      <p:pic>
        <p:nvPicPr>
          <p:cNvPr id="7" name="Immagine 6" descr="Immagine che contiene testo, schermata, diagramma, quadrato&#10;&#10;Descrizione generata automaticamente">
            <a:extLst>
              <a:ext uri="{FF2B5EF4-FFF2-40B4-BE49-F238E27FC236}">
                <a16:creationId xmlns:a16="http://schemas.microsoft.com/office/drawing/2014/main" id="{9FA602F2-63CC-02CF-B3C7-96D439A1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98370"/>
            <a:ext cx="4584700" cy="5245100"/>
          </a:xfrm>
          <a:prstGeom prst="rect">
            <a:avLst/>
          </a:prstGeom>
        </p:spPr>
      </p:pic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5E700F2A-3EF5-4B28-D903-C996FA9A1DCF}"/>
              </a:ext>
            </a:extLst>
          </p:cNvPr>
          <p:cNvCxnSpPr/>
          <p:nvPr/>
        </p:nvCxnSpPr>
        <p:spPr>
          <a:xfrm>
            <a:off x="1016000" y="3441032"/>
            <a:ext cx="1016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62DDFAEA-13F2-A70B-10BC-4A8BD31ED94A}"/>
              </a:ext>
            </a:extLst>
          </p:cNvPr>
          <p:cNvCxnSpPr/>
          <p:nvPr/>
        </p:nvCxnSpPr>
        <p:spPr>
          <a:xfrm flipH="1">
            <a:off x="1117601" y="4954337"/>
            <a:ext cx="9931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85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88E592-A8D4-C0EE-CC7F-CBC7E8FE8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163"/>
            <a:ext cx="10515600" cy="1325563"/>
          </a:xfrm>
        </p:spPr>
        <p:txBody>
          <a:bodyPr>
            <a:normAutofit/>
          </a:bodyPr>
          <a:lstStyle/>
          <a:p>
            <a:r>
              <a:rPr lang="it-IT" sz="2400" b="1" dirty="0"/>
              <a:t>Code for ggplot2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13651C-4440-227A-D016-8F13B6170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726"/>
            <a:ext cx="10515600" cy="4779237"/>
          </a:xfrm>
          <a:solidFill>
            <a:schemeClr val="bg1">
              <a:lumMod val="8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/>
              <a:t># Building a </a:t>
            </a:r>
            <a:r>
              <a:rPr lang="it-IT" dirty="0" err="1"/>
              <a:t>dataframe</a:t>
            </a:r>
            <a:r>
              <a:rPr lang="it-IT" dirty="0"/>
              <a:t> to </a:t>
            </a:r>
            <a:r>
              <a:rPr lang="it-IT" dirty="0" err="1"/>
              <a:t>visualize</a:t>
            </a:r>
            <a:r>
              <a:rPr lang="it-IT" dirty="0"/>
              <a:t> the class </a:t>
            </a:r>
            <a:r>
              <a:rPr lang="it-IT" dirty="0" err="1"/>
              <a:t>percentage</a:t>
            </a:r>
            <a:r>
              <a:rPr lang="it-IT" dirty="0"/>
              <a:t> from 2019 and 2020.</a:t>
            </a:r>
          </a:p>
          <a:p>
            <a:pPr marL="0" indent="0">
              <a:buNone/>
            </a:pPr>
            <a:r>
              <a:rPr lang="it-IT" dirty="0"/>
              <a:t>y19 &lt;- c(31.89, 68.11) # </a:t>
            </a:r>
            <a:r>
              <a:rPr lang="it-IT" dirty="0" err="1"/>
              <a:t>Forest</a:t>
            </a:r>
            <a:r>
              <a:rPr lang="it-IT" dirty="0"/>
              <a:t>, Others</a:t>
            </a:r>
          </a:p>
          <a:p>
            <a:pPr marL="0" indent="0">
              <a:buNone/>
            </a:pPr>
            <a:r>
              <a:rPr lang="it-IT" dirty="0"/>
              <a:t>y20 &lt;- c(29.39, 70.61) # </a:t>
            </a:r>
            <a:r>
              <a:rPr lang="it-IT" dirty="0" err="1"/>
              <a:t>Forest</a:t>
            </a:r>
            <a:r>
              <a:rPr lang="it-IT" dirty="0"/>
              <a:t>, Others</a:t>
            </a:r>
          </a:p>
          <a:p>
            <a:pPr marL="0" indent="0">
              <a:buNone/>
            </a:pPr>
            <a:r>
              <a:rPr lang="it-IT" dirty="0"/>
              <a:t>classes &lt;- c("</a:t>
            </a:r>
            <a:r>
              <a:rPr lang="it-IT" dirty="0" err="1"/>
              <a:t>Forest</a:t>
            </a:r>
            <a:r>
              <a:rPr lang="it-IT" dirty="0"/>
              <a:t>", "Others")</a:t>
            </a:r>
          </a:p>
          <a:p>
            <a:pPr marL="0" indent="0">
              <a:buNone/>
            </a:pPr>
            <a:r>
              <a:rPr lang="it-IT" dirty="0"/>
              <a:t># </a:t>
            </a:r>
            <a:r>
              <a:rPr lang="it-IT" dirty="0" err="1"/>
              <a:t>Creating</a:t>
            </a:r>
            <a:r>
              <a:rPr lang="it-IT" dirty="0"/>
              <a:t> the </a:t>
            </a:r>
            <a:r>
              <a:rPr lang="it-IT" dirty="0" err="1"/>
              <a:t>dataframe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dataF</a:t>
            </a:r>
            <a:r>
              <a:rPr lang="it-IT" dirty="0"/>
              <a:t> &lt;- </a:t>
            </a:r>
            <a:r>
              <a:rPr lang="it-IT" dirty="0" err="1"/>
              <a:t>data.frame</a:t>
            </a:r>
            <a:r>
              <a:rPr lang="it-IT" dirty="0"/>
              <a:t>(classes, y19, y20)</a:t>
            </a:r>
          </a:p>
          <a:p>
            <a:pPr marL="0" indent="0">
              <a:buNone/>
            </a:pPr>
            <a:r>
              <a:rPr lang="it-IT" dirty="0" err="1"/>
              <a:t>dataF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# </a:t>
            </a:r>
            <a:r>
              <a:rPr lang="it-IT" dirty="0" err="1"/>
              <a:t>Visualizing</a:t>
            </a:r>
            <a:r>
              <a:rPr lang="it-IT" dirty="0"/>
              <a:t> a clear quantitative </a:t>
            </a:r>
            <a:r>
              <a:rPr lang="it-IT" dirty="0" err="1"/>
              <a:t>representation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F19 &lt;- </a:t>
            </a:r>
            <a:r>
              <a:rPr lang="it-IT" dirty="0" err="1"/>
              <a:t>ggplot</a:t>
            </a:r>
            <a:r>
              <a:rPr lang="it-IT" dirty="0"/>
              <a:t>(</a:t>
            </a:r>
            <a:r>
              <a:rPr lang="it-IT" dirty="0" err="1"/>
              <a:t>dataF</a:t>
            </a:r>
            <a:r>
              <a:rPr lang="it-IT" dirty="0"/>
              <a:t>, </a:t>
            </a:r>
            <a:r>
              <a:rPr lang="it-IT" dirty="0" err="1"/>
              <a:t>aes</a:t>
            </a:r>
            <a:r>
              <a:rPr lang="it-IT" dirty="0"/>
              <a:t>(x=classes, y=y19, </a:t>
            </a:r>
            <a:r>
              <a:rPr lang="it-IT" dirty="0" err="1"/>
              <a:t>fill</a:t>
            </a:r>
            <a:r>
              <a:rPr lang="it-IT" dirty="0"/>
              <a:t>=classes)) + </a:t>
            </a:r>
            <a:r>
              <a:rPr lang="it-IT" dirty="0" err="1"/>
              <a:t>geom_bar</a:t>
            </a:r>
            <a:r>
              <a:rPr lang="it-IT" dirty="0"/>
              <a:t>(</a:t>
            </a:r>
            <a:r>
              <a:rPr lang="it-IT" dirty="0" err="1"/>
              <a:t>stat</a:t>
            </a:r>
            <a:r>
              <a:rPr lang="it-IT" dirty="0"/>
              <a:t>="</a:t>
            </a:r>
            <a:r>
              <a:rPr lang="it-IT" dirty="0" err="1"/>
              <a:t>identity</a:t>
            </a:r>
            <a:r>
              <a:rPr lang="it-IT" dirty="0"/>
              <a:t>") + </a:t>
            </a:r>
            <a:r>
              <a:rPr lang="it-IT" dirty="0" err="1"/>
              <a:t>scale_fill_viridis_d</a:t>
            </a:r>
            <a:r>
              <a:rPr lang="it-IT" dirty="0"/>
              <a:t>(option="D") + </a:t>
            </a:r>
            <a:r>
              <a:rPr lang="it-IT" dirty="0" err="1"/>
              <a:t>ylim</a:t>
            </a:r>
            <a:r>
              <a:rPr lang="it-IT" dirty="0"/>
              <a:t>(c(0, 100)) + labs(</a:t>
            </a:r>
            <a:r>
              <a:rPr lang="it-IT" dirty="0" err="1"/>
              <a:t>title</a:t>
            </a:r>
            <a:r>
              <a:rPr lang="it-IT" dirty="0"/>
              <a:t>="Land Cover 2019 (%)", y="</a:t>
            </a:r>
            <a:r>
              <a:rPr lang="it-IT" dirty="0" err="1"/>
              <a:t>Percentage</a:t>
            </a:r>
            <a:r>
              <a:rPr lang="it-IT" dirty="0"/>
              <a:t>", x="Class")</a:t>
            </a:r>
          </a:p>
          <a:p>
            <a:pPr marL="0" indent="0">
              <a:buNone/>
            </a:pPr>
            <a:r>
              <a:rPr lang="it-IT" dirty="0"/>
              <a:t>F20 &lt;- </a:t>
            </a:r>
            <a:r>
              <a:rPr lang="it-IT" dirty="0" err="1"/>
              <a:t>ggplot</a:t>
            </a:r>
            <a:r>
              <a:rPr lang="it-IT" dirty="0"/>
              <a:t>(</a:t>
            </a:r>
            <a:r>
              <a:rPr lang="it-IT" dirty="0" err="1"/>
              <a:t>dataF</a:t>
            </a:r>
            <a:r>
              <a:rPr lang="it-IT" dirty="0"/>
              <a:t>, </a:t>
            </a:r>
            <a:r>
              <a:rPr lang="it-IT" dirty="0" err="1"/>
              <a:t>aes</a:t>
            </a:r>
            <a:r>
              <a:rPr lang="it-IT" dirty="0"/>
              <a:t>(x=classes, y=y20, </a:t>
            </a:r>
            <a:r>
              <a:rPr lang="it-IT" dirty="0" err="1"/>
              <a:t>fill</a:t>
            </a:r>
            <a:r>
              <a:rPr lang="it-IT" dirty="0"/>
              <a:t>=classes)) + </a:t>
            </a:r>
            <a:r>
              <a:rPr lang="it-IT" dirty="0" err="1"/>
              <a:t>geom_bar</a:t>
            </a:r>
            <a:r>
              <a:rPr lang="it-IT" dirty="0"/>
              <a:t>(</a:t>
            </a:r>
            <a:r>
              <a:rPr lang="it-IT" dirty="0" err="1"/>
              <a:t>stat</a:t>
            </a:r>
            <a:r>
              <a:rPr lang="it-IT" dirty="0"/>
              <a:t>="</a:t>
            </a:r>
            <a:r>
              <a:rPr lang="it-IT" dirty="0" err="1"/>
              <a:t>identity</a:t>
            </a:r>
            <a:r>
              <a:rPr lang="it-IT" dirty="0"/>
              <a:t>") + </a:t>
            </a:r>
            <a:r>
              <a:rPr lang="it-IT" dirty="0" err="1"/>
              <a:t>scale_fill_viridis_d</a:t>
            </a:r>
            <a:r>
              <a:rPr lang="it-IT" dirty="0"/>
              <a:t>(option="D") + </a:t>
            </a:r>
            <a:r>
              <a:rPr lang="it-IT" dirty="0" err="1"/>
              <a:t>ylim</a:t>
            </a:r>
            <a:r>
              <a:rPr lang="it-IT" dirty="0"/>
              <a:t>(c(0, 100)) + labs(</a:t>
            </a:r>
            <a:r>
              <a:rPr lang="it-IT" dirty="0" err="1"/>
              <a:t>title</a:t>
            </a:r>
            <a:r>
              <a:rPr lang="it-IT" dirty="0"/>
              <a:t>="Land Cover 2020 (%)", y="</a:t>
            </a:r>
            <a:r>
              <a:rPr lang="it-IT" dirty="0" err="1"/>
              <a:t>Percentage</a:t>
            </a:r>
            <a:r>
              <a:rPr lang="it-IT" dirty="0"/>
              <a:t>", x="Class")</a:t>
            </a:r>
          </a:p>
          <a:p>
            <a:pPr marL="0" indent="0">
              <a:buNone/>
            </a:pPr>
            <a:r>
              <a:rPr lang="it-IT" dirty="0"/>
              <a:t>F19 + F20</a:t>
            </a:r>
          </a:p>
        </p:txBody>
      </p:sp>
    </p:spTree>
    <p:extLst>
      <p:ext uri="{BB962C8B-B14F-4D97-AF65-F5344CB8AC3E}">
        <p14:creationId xmlns:p14="http://schemas.microsoft.com/office/powerpoint/2010/main" val="784248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DB3D87-35C5-4816-B464-724E83D9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it-IT" b="1" dirty="0"/>
              <a:t>Thank </a:t>
            </a:r>
            <a:r>
              <a:rPr lang="it-IT" b="1" dirty="0" err="1"/>
              <a:t>you</a:t>
            </a:r>
            <a:r>
              <a:rPr lang="it-IT" b="1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4AB3CF-603D-E920-E437-215278EB5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6519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</TotalTime>
  <Words>2361</Words>
  <Application>Microsoft Macintosh PowerPoint</Application>
  <PresentationFormat>Widescreen</PresentationFormat>
  <Paragraphs>232</Paragraphs>
  <Slides>23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di Office</vt:lpstr>
      <vt:lpstr>Multitemporal Analysis of Vegetation Health and Landscape Heterogeneity</vt:lpstr>
      <vt:lpstr>Table of contents</vt:lpstr>
      <vt:lpstr>Introduction </vt:lpstr>
      <vt:lpstr>Packages</vt:lpstr>
      <vt:lpstr>Study Area</vt:lpstr>
      <vt:lpstr>Spectral Structure</vt:lpstr>
      <vt:lpstr>True Color and False Color </vt:lpstr>
      <vt:lpstr>Visual Interpretation (RGB plots)</vt:lpstr>
      <vt:lpstr>Code for RGB plots</vt:lpstr>
      <vt:lpstr>Vegetation Health Index DVI = NIR -red</vt:lpstr>
      <vt:lpstr>Vegetation Health Index NDVI</vt:lpstr>
      <vt:lpstr>Code for NDVI</vt:lpstr>
      <vt:lpstr>Landscape Structure</vt:lpstr>
      <vt:lpstr>Data Compression (PCA)</vt:lpstr>
      <vt:lpstr>Code for PCA</vt:lpstr>
      <vt:lpstr>Landscape Heterogeneity (SD)</vt:lpstr>
      <vt:lpstr>Code for SD</vt:lpstr>
      <vt:lpstr>Quantifying Change</vt:lpstr>
      <vt:lpstr>Land Cover Classification</vt:lpstr>
      <vt:lpstr>Code for Classification</vt:lpstr>
      <vt:lpstr>Statistical Synthesis (ggplot2)</vt:lpstr>
      <vt:lpstr>Code for ggplot2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Premoli - giovanni.premoli@studio.unibo.it</dc:creator>
  <cp:lastModifiedBy>Giovanni Premoli - giovanni.premoli@studio.unibo.it</cp:lastModifiedBy>
  <cp:revision>5</cp:revision>
  <dcterms:created xsi:type="dcterms:W3CDTF">2026-01-22T11:03:52Z</dcterms:created>
  <dcterms:modified xsi:type="dcterms:W3CDTF">2026-01-26T16:00:32Z</dcterms:modified>
</cp:coreProperties>
</file>